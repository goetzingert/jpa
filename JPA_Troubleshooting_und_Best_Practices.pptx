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293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457200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71600" y="1645920"/>
            <a:ext cx="96012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400" b="1">
                <a:solidFill>
                  <a:srgbClr val="93C5FD"/>
                </a:solidFill>
                <a:latin typeface="Segoe UI"/>
              </a:defRPr>
            </a:pPr>
            <a:r>
              <a:t>JPA &amp; HIBERNATE SEMINAR</a:t>
            </a:r>
          </a:p>
          <a:p>
            <a:pPr>
              <a:spcAft>
                <a:spcPts val="1200"/>
              </a:spcAft>
              <a:defRPr sz="3600" b="1">
                <a:solidFill>
                  <a:srgbClr val="FFFFFF"/>
                </a:solidFill>
                <a:latin typeface="Segoe UI"/>
              </a:defRPr>
            </a:pPr>
            <a:r>
              <a:t>Troubleshooting &amp; Best Practices</a:t>
            </a:r>
          </a:p>
          <a:p>
            <a:pPr>
              <a:spcAft>
                <a:spcPts val="2800"/>
              </a:spcAft>
              <a:defRPr sz="1800">
                <a:solidFill>
                  <a:srgbClr val="CBD5E1"/>
                </a:solidFill>
                <a:latin typeface="Segoe UI"/>
              </a:defRPr>
            </a:pPr>
            <a:r>
              <a:t>Praxis-Leitfaden: Typische Fallstricke, Fehlermuster, Architekturregeln &amp; Referenztabellen</a:t>
            </a:r>
          </a:p>
          <a:p>
            <a:pPr>
              <a:defRPr sz="1300">
                <a:solidFill>
                  <a:srgbClr val="94A3B8"/>
                </a:solidFill>
                <a:latin typeface="Segoe UI"/>
              </a:defRPr>
            </a:pPr>
            <a:r>
              <a:t>Enterprise Java Persistence | Jakarta Persistence &amp; Hibernate ORM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31520" y="365760"/>
            <a:ext cx="10728655" cy="54864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75488"/>
            <a:ext cx="10728655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2563EB"/>
                </a:solidFill>
                <a:latin typeface="Segoe UI"/>
              </a:defRPr>
            </a:pPr>
            <a:r>
              <a:t>ÜBERBLICK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49808"/>
            <a:ext cx="1072865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1E293B"/>
                </a:solidFill>
                <a:latin typeface="Segoe UI"/>
              </a:defRPr>
            </a:pPr>
            <a:r>
              <a:t>Leitfaden-Struktur &amp; Themenübersicht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463040"/>
            <a:ext cx="3474720" cy="47548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31520" y="1463040"/>
            <a:ext cx="3474720" cy="548640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  <a:latin typeface="Segoe UI"/>
              </a:defRPr>
            </a:pPr>
            <a:r>
              <a:t>1. Typische Fehlerbilder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2103120"/>
            <a:ext cx="310896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200">
                <a:solidFill>
                  <a:srgbClr val="0F172A"/>
                </a:solidFill>
                <a:latin typeface="Segoe UI"/>
              </a:defRPr>
            </a:pPr>
            <a:r>
              <a:t>• LazyInitializationException &amp; Session Management</a:t>
            </a:r>
          </a:p>
          <a:p>
            <a:pPr>
              <a:spcAft>
                <a:spcPts val="1000"/>
              </a:spcAft>
              <a:defRPr sz="1200">
                <a:solidFill>
                  <a:srgbClr val="0F172A"/>
                </a:solidFill>
                <a:latin typeface="Segoe UI"/>
              </a:defRPr>
            </a:pPr>
            <a:r>
              <a:t>• N+1 Select Problem &amp; Fetch Joins</a:t>
            </a:r>
          </a:p>
          <a:p>
            <a:pPr>
              <a:spcAft>
                <a:spcPts val="1000"/>
              </a:spcAft>
              <a:defRPr sz="1200">
                <a:solidFill>
                  <a:srgbClr val="0F172A"/>
                </a:solidFill>
                <a:latin typeface="Segoe UI"/>
              </a:defRPr>
            </a:pPr>
            <a:r>
              <a:t>• OptimisticLockException &amp; Concurrency</a:t>
            </a:r>
          </a:p>
          <a:p>
            <a:pPr>
              <a:spcAft>
                <a:spcPts val="1000"/>
              </a:spcAft>
              <a:defRPr sz="1200">
                <a:solidFill>
                  <a:srgbClr val="0F172A"/>
                </a:solidFill>
                <a:latin typeface="Segoe UI"/>
              </a:defRPr>
            </a:pPr>
            <a:r>
              <a:t>• Transiente &amp; Detached Entity Ausnahmen</a:t>
            </a:r>
          </a:p>
          <a:p>
            <a:pPr>
              <a:spcAft>
                <a:spcPts val="1000"/>
              </a:spcAft>
              <a:defRPr sz="1200">
                <a:solidFill>
                  <a:srgbClr val="0F172A"/>
                </a:solidFill>
                <a:latin typeface="Segoe UI"/>
              </a:defRPr>
            </a:pPr>
            <a:r>
              <a:t>• Bean Validation &amp; Constraints</a:t>
            </a:r>
          </a:p>
          <a:p>
            <a:pPr>
              <a:spcAft>
                <a:spcPts val="1000"/>
              </a:spcAft>
              <a:defRPr sz="1200">
                <a:solidFill>
                  <a:srgbClr val="0F172A"/>
                </a:solidFill>
                <a:latin typeface="Segoe UI"/>
              </a:defRPr>
            </a:pPr>
            <a:r>
              <a:t>• MappedSuperclass vs. Entities, Derby Locks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43400" y="1463040"/>
            <a:ext cx="3474720" cy="47548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343400" y="1463040"/>
            <a:ext cx="3474720" cy="54864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  <a:latin typeface="Segoe UI"/>
              </a:defRPr>
            </a:pPr>
            <a:r>
              <a:t>2. Architecture &amp; Best Practices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26280" y="2103120"/>
            <a:ext cx="310896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200">
                <a:solidFill>
                  <a:srgbClr val="0F172A"/>
                </a:solidFill>
                <a:latin typeface="Segoe UI"/>
              </a:defRPr>
            </a:pPr>
            <a:r>
              <a:t>• FetchType-Regeln (LAZY als Default)</a:t>
            </a:r>
          </a:p>
          <a:p>
            <a:pPr>
              <a:spcAft>
                <a:spcPts val="1000"/>
              </a:spcAft>
              <a:defRPr sz="1200">
                <a:solidFill>
                  <a:srgbClr val="0F172A"/>
                </a:solidFill>
                <a:latin typeface="Segoe UI"/>
              </a:defRPr>
            </a:pPr>
            <a:r>
              <a:t>• Defensive Assoziations-Synchronisation</a:t>
            </a:r>
          </a:p>
          <a:p>
            <a:pPr>
              <a:spcAft>
                <a:spcPts val="1000"/>
              </a:spcAft>
              <a:defRPr sz="1200">
                <a:solidFill>
                  <a:srgbClr val="0F172A"/>
                </a:solidFill>
                <a:latin typeface="Segoe UI"/>
              </a:defRPr>
            </a:pPr>
            <a:r>
              <a:t>• equals() &amp; hashCode() Regeln bei Entities</a:t>
            </a:r>
          </a:p>
          <a:p>
            <a:pPr>
              <a:spcAft>
                <a:spcPts val="1000"/>
              </a:spcAft>
              <a:defRPr sz="1200">
                <a:solidFill>
                  <a:srgbClr val="0F172A"/>
                </a:solidFill>
                <a:latin typeface="Segoe UI"/>
              </a:defRPr>
            </a:pPr>
            <a:r>
              <a:t>• Persistence Context &amp; Batch Processing</a:t>
            </a:r>
          </a:p>
          <a:p>
            <a:pPr>
              <a:spcAft>
                <a:spcPts val="1000"/>
              </a:spcAft>
              <a:defRPr sz="1200">
                <a:solidFill>
                  <a:srgbClr val="0F172A"/>
                </a:solidFill>
                <a:latin typeface="Segoe UI"/>
              </a:defRPr>
            </a:pPr>
            <a:r>
              <a:t>• DTO-Projektionen (Constructor Expressions)</a:t>
            </a:r>
          </a:p>
          <a:p>
            <a:pPr>
              <a:spcAft>
                <a:spcPts val="1000"/>
              </a:spcAft>
              <a:defRPr sz="1200">
                <a:solidFill>
                  <a:srgbClr val="0F172A"/>
                </a:solidFill>
                <a:latin typeface="Segoe UI"/>
              </a:defRPr>
            </a:pPr>
            <a:r>
              <a:t>• ID-Strategien (IDENTITY, SEQUENCE, TABLE)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955280" y="1463040"/>
            <a:ext cx="3474720" cy="47548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955280" y="1463040"/>
            <a:ext cx="3474720" cy="548640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  <a:latin typeface="Segoe UI"/>
              </a:defRPr>
            </a:pPr>
            <a:r>
              <a:t>3. Referenz- &amp; Entscheidungstabellen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138160" y="2103120"/>
            <a:ext cx="310896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200">
                <a:solidFill>
                  <a:srgbClr val="0F172A"/>
                </a:solidFill>
                <a:latin typeface="Segoe UI"/>
              </a:defRPr>
            </a:pPr>
            <a:r>
              <a:t>• CascadeType-Matrix (PERSIST, MERGE, REMOVE, ALL)</a:t>
            </a:r>
          </a:p>
          <a:p>
            <a:pPr>
              <a:spcAft>
                <a:spcPts val="1000"/>
              </a:spcAft>
              <a:defRPr sz="1200">
                <a:solidFill>
                  <a:srgbClr val="0F172A"/>
                </a:solidFill>
                <a:latin typeface="Segoe UI"/>
              </a:defRPr>
            </a:pPr>
            <a:r>
              <a:t>• Entity-Lifecycle Callbacks (@PrePersist etc.)</a:t>
            </a:r>
          </a:p>
          <a:p>
            <a:pPr>
              <a:spcAft>
                <a:spcPts val="1000"/>
              </a:spcAft>
              <a:defRPr sz="1200">
                <a:solidFill>
                  <a:srgbClr val="0F172A"/>
                </a:solidFill>
                <a:latin typeface="Segoe UI"/>
              </a:defRPr>
            </a:pPr>
            <a:r>
              <a:t>• Transaktionsgrenzen &amp; Flush-Verhalten</a:t>
            </a:r>
          </a:p>
          <a:p>
            <a:pPr>
              <a:spcAft>
                <a:spcPts val="1000"/>
              </a:spcAft>
              <a:defRPr sz="1200">
                <a:solidFill>
                  <a:srgbClr val="0F172A"/>
                </a:solidFill>
                <a:latin typeface="Segoe UI"/>
              </a:defRPr>
            </a:pPr>
            <a:r>
              <a:t>• Checkliste für den Produktiveinsatz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31520" y="365760"/>
            <a:ext cx="10728655" cy="54864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75488"/>
            <a:ext cx="10728655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2563EB"/>
                </a:solidFill>
                <a:latin typeface="Segoe UI"/>
              </a:defRPr>
            </a:pPr>
            <a:r>
              <a:t>TROUBLESHOOTING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49808"/>
            <a:ext cx="1072865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1E293B"/>
                </a:solidFill>
                <a:latin typeface="Segoe UI"/>
              </a:defRPr>
            </a:pPr>
            <a:r>
              <a:t>1.1 LazyInitializationException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463040"/>
            <a:ext cx="5212080" cy="47548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645920"/>
            <a:ext cx="484632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 b="1">
                <a:solidFill>
                  <a:srgbClr val="DC2626"/>
                </a:solidFill>
              </a:defRPr>
            </a:pPr>
            <a:r>
              <a:t>Symptom &amp; Fehlermeldung</a:t>
            </a:r>
          </a:p>
          <a:p>
            <a:pPr>
              <a:spcAft>
                <a:spcPts val="1400"/>
              </a:spcAft>
              <a:defRPr sz="1100">
                <a:solidFill>
                  <a:srgbClr val="1E293B"/>
                </a:solidFill>
                <a:latin typeface="Courier New"/>
              </a:defRPr>
            </a:pPr>
            <a:r>
              <a:t>org.hibernate.LazyInitializationException: could not initialize proxy [net.rentacar.model.Shop#1] - no Session</a:t>
            </a:r>
          </a:p>
          <a:p>
            <a:pPr>
              <a:spcAft>
                <a:spcPts val="600"/>
              </a:spcAft>
              <a:defRPr sz="1400" b="1">
                <a:solidFill>
                  <a:srgbClr val="1E293B"/>
                </a:solidFill>
              </a:defRPr>
            </a:pPr>
            <a:r>
              <a:t>Ursache &amp; Mechanismen</a:t>
            </a:r>
          </a:p>
          <a:p>
            <a:pPr>
              <a:spcAft>
                <a:spcPts val="800"/>
              </a:spcAft>
              <a:defRPr sz="1200">
                <a:solidFill>
                  <a:srgbClr val="0F172A"/>
                </a:solidFill>
                <a:latin typeface="Segoe UI"/>
              </a:defRPr>
            </a:pPr>
            <a:r>
              <a:t>• Zugriff auf eine LAZY-Relation oder Collection bei einer Detached Entity.</a:t>
            </a:r>
          </a:p>
          <a:p>
            <a:pPr>
              <a:spcAft>
                <a:spcPts val="800"/>
              </a:spcAft>
              <a:defRPr sz="1200">
                <a:solidFill>
                  <a:srgbClr val="0F172A"/>
                </a:solidFill>
                <a:latin typeface="Segoe UI"/>
              </a:defRPr>
            </a:pPr>
            <a:r>
              <a:t>• Der EntityManager / die Hibernate-Session wurde zuvor geschlossen (close()) oder die Transaktion committet.</a:t>
            </a:r>
          </a:p>
          <a:p>
            <a:pPr>
              <a:spcAft>
                <a:spcPts val="800"/>
              </a:spcAft>
              <a:defRPr sz="1200">
                <a:solidFill>
                  <a:srgbClr val="0F172A"/>
                </a:solidFill>
                <a:latin typeface="Segoe UI"/>
              </a:defRPr>
            </a:pPr>
            <a:r>
              <a:t>• Der Lazy-Proxy kann ohne aktive Datenbankverbindung keine SQL-Abfrage nachladen.</a:t>
            </a:r>
          </a:p>
          <a:p>
            <a:pPr>
              <a:spcAft>
                <a:spcPts val="400"/>
              </a:spcAft>
              <a:defRPr sz="1200" b="1">
                <a:solidFill>
                  <a:srgbClr val="DC2626"/>
                </a:solidFill>
              </a:defRPr>
            </a:pPr>
            <a:r>
              <a:t>Antipatterns (Vermeiden!):</a:t>
            </a:r>
          </a:p>
          <a:p>
            <a:pPr>
              <a:spcAft>
                <a:spcPts val="400"/>
              </a:spcAft>
              <a:defRPr sz="1100">
                <a:solidFill>
                  <a:srgbClr val="64748B"/>
                </a:solidFill>
                <a:latin typeface="Segoe UI"/>
              </a:defRPr>
            </a:pPr>
            <a:r>
              <a:t>• Globales Umstellen aller Relationen auf FetchType.EAGER.</a:t>
            </a:r>
          </a:p>
          <a:p>
            <a:pPr>
              <a:spcAft>
                <a:spcPts val="400"/>
              </a:spcAft>
              <a:defRPr sz="1100">
                <a:solidFill>
                  <a:srgbClr val="64748B"/>
                </a:solidFill>
                <a:latin typeface="Segoe UI"/>
              </a:defRPr>
            </a:pPr>
            <a:r>
              <a:t>• Open Session in View (OSIV) im Web/API-Layer (verschleiert DB-Zugriffe).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1463040"/>
            <a:ext cx="5212080" cy="4754880"/>
          </a:xfrm>
          <a:prstGeom prst="roundRect">
            <a:avLst/>
          </a:prstGeom>
          <a:solidFill>
            <a:srgbClr val="F0FDF4"/>
          </a:solidFill>
          <a:ln w="19050">
            <a:solidFill>
              <a:srgbClr val="BBF7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0" y="1645920"/>
            <a:ext cx="484632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 b="1">
                <a:solidFill>
                  <a:srgbClr val="0D9488"/>
                </a:solidFill>
              </a:defRPr>
            </a:pPr>
            <a:r>
              <a:t>Lösungsstrategien (Best Practice)</a:t>
            </a:r>
          </a:p>
          <a:p>
            <a:pPr>
              <a:spcAft>
                <a:spcPts val="400"/>
              </a:spcAft>
              <a:defRPr sz="1200" b="1">
                <a:solidFill>
                  <a:srgbClr val="1E293B"/>
                </a:solidFill>
              </a:defRPr>
            </a:pPr>
            <a:r>
              <a:t>1. JPQL JOIN FETCH (Gezieltes Initialisieren)</a:t>
            </a:r>
          </a:p>
          <a:p>
            <a:pPr>
              <a:spcAft>
                <a:spcPts val="1200"/>
              </a:spcAft>
              <a:defRPr sz="1100">
                <a:solidFill>
                  <a:srgbClr val="2563EB"/>
                </a:solidFill>
                <a:latin typeface="Courier New"/>
              </a:defRPr>
            </a:pPr>
            <a:r>
              <a:t>SELECT s FROM Shop s JOIN FETCH s.vehicles WHERE s.id = :id</a:t>
            </a:r>
          </a:p>
          <a:p>
            <a:pPr>
              <a:spcAft>
                <a:spcPts val="400"/>
              </a:spcAft>
              <a:defRPr sz="1200" b="1">
                <a:solidFill>
                  <a:srgbClr val="1E293B"/>
                </a:solidFill>
              </a:defRPr>
            </a:pPr>
            <a:r>
              <a:t>2. JPA Entity Graphs (Dynamische Fetch-Pläne)</a:t>
            </a:r>
          </a:p>
          <a:p>
            <a:pPr>
              <a:spcAft>
                <a:spcPts val="1200"/>
              </a:spcAft>
              <a:defRPr sz="1000">
                <a:solidFill>
                  <a:srgbClr val="334155"/>
                </a:solidFill>
                <a:latin typeface="Courier New"/>
              </a:defRPr>
            </a:pPr>
            <a:r>
              <a:t>EntityGraph&lt;Shop&gt; graph = em.createEntityGraph(Shop.class);</a:t>
            </a:r>
            <a:br/>
            <a:r>
              <a:t>graph.addAttributeNodes("vehicles");</a:t>
            </a:r>
            <a:br/>
            <a:r>
              <a:t>em.find(Shop.class, id, Map.of("jakarta.persistence.fetchgraph", graph));</a:t>
            </a:r>
          </a:p>
          <a:p>
            <a:pPr>
              <a:spcAft>
                <a:spcPts val="400"/>
              </a:spcAft>
              <a:defRPr sz="1200" b="1">
                <a:solidFill>
                  <a:srgbClr val="1E293B"/>
                </a:solidFill>
              </a:defRPr>
            </a:pPr>
            <a:r>
              <a:t>3. DTO-Projektionen für GUI / REST APIs</a:t>
            </a:r>
          </a:p>
          <a:p>
            <a:pPr>
              <a:defRPr sz="1000">
                <a:solidFill>
                  <a:srgbClr val="334155"/>
                </a:solidFill>
                <a:latin typeface="Courier New"/>
              </a:defRPr>
            </a:pPr>
            <a:r>
              <a:t>SELECT new net.rentacar.dto.ShopSummaryDto(s.name, count(v)) FROM ...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31520" y="365760"/>
            <a:ext cx="10728655" cy="54864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75488"/>
            <a:ext cx="10728655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2563EB"/>
                </a:solidFill>
                <a:latin typeface="Segoe UI"/>
              </a:defRPr>
            </a:pPr>
            <a:r>
              <a:t>TROUBLESHOOTING &amp;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49808"/>
            <a:ext cx="1072865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1E293B"/>
                </a:solidFill>
                <a:latin typeface="Segoe UI"/>
              </a:defRPr>
            </a:pPr>
            <a:r>
              <a:t>1.2 Das N+1-Select-Problem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463040"/>
            <a:ext cx="5212080" cy="4754880"/>
          </a:xfrm>
          <a:prstGeom prst="roundRect">
            <a:avLst/>
          </a:prstGeom>
          <a:solidFill>
            <a:srgbClr val="FEF2F2"/>
          </a:solidFill>
          <a:ln w="19050">
            <a:solidFill>
              <a:srgbClr val="FECA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645920"/>
            <a:ext cx="484632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 b="1">
                <a:solidFill>
                  <a:srgbClr val="DC2626"/>
                </a:solidFill>
              </a:defRPr>
            </a:pPr>
            <a:r>
              <a:t>Wie das Problem entsteht</a:t>
            </a:r>
          </a:p>
          <a:p>
            <a:pPr>
              <a:spcAft>
                <a:spcPts val="600"/>
              </a:spcAft>
              <a:defRPr sz="1100">
                <a:solidFill>
                  <a:srgbClr val="0F172A"/>
                </a:solidFill>
                <a:latin typeface="Segoe UI"/>
              </a:defRPr>
            </a:pPr>
            <a:r>
              <a:t>• 1 initiale Abfrage lädt N Stammsätze (z.B. 50 Shops):</a:t>
            </a:r>
          </a:p>
          <a:p>
            <a:pPr>
              <a:spcAft>
                <a:spcPts val="600"/>
              </a:spcAft>
              <a:defRPr sz="1100">
                <a:solidFill>
                  <a:srgbClr val="0F172A"/>
                </a:solidFill>
                <a:latin typeface="Segoe UI"/>
              </a:defRPr>
            </a:pPr>
            <a:r>
              <a:t>• SELECT * FROM SHOP</a:t>
            </a:r>
          </a:p>
          <a:p>
            <a:pPr>
              <a:spcAft>
                <a:spcPts val="600"/>
              </a:spcAft>
              <a:defRPr sz="1100">
                <a:solidFill>
                  <a:srgbClr val="0F172A"/>
                </a:solidFill>
                <a:latin typeface="Segoe UI"/>
              </a:defRPr>
            </a:pPr>
            <a:r>
              <a:t>• Beim Zugriff auf die verknüpfte Relation (z.B. shop.getVehicles()) feuert Hibernate für jeden einzelnen Shop ein separates SELECT:</a:t>
            </a:r>
          </a:p>
          <a:p>
            <a:pPr>
              <a:spcAft>
                <a:spcPts val="600"/>
              </a:spcAft>
              <a:defRPr sz="1100">
                <a:solidFill>
                  <a:srgbClr val="0F172A"/>
                </a:solidFill>
                <a:latin typeface="Segoe UI"/>
              </a:defRPr>
            </a:pPr>
            <a:r>
              <a:t>• SELECT * FROM VEHICLE WHERE SHOP_ID = 1</a:t>
            </a:r>
            <a:br/>
            <a:r>
              <a:t>SELECT * FROM VEHICLE WHERE SHOP_ID = 2</a:t>
            </a:r>
            <a:br/>
            <a:r>
              <a:t>... (50x nachgeladen!)</a:t>
            </a:r>
          </a:p>
          <a:p>
            <a:pPr>
              <a:spcAft>
                <a:spcPts val="600"/>
              </a:spcAft>
              <a:defRPr sz="1100">
                <a:solidFill>
                  <a:srgbClr val="0F172A"/>
                </a:solidFill>
                <a:latin typeface="Segoe UI"/>
              </a:defRPr>
            </a:pPr>
            <a:r>
              <a:t>• Ergebnis: 1 + N = 51 SQL Queries statt 1 optimierter Query!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1463040"/>
            <a:ext cx="5212080" cy="4754880"/>
          </a:xfrm>
          <a:prstGeom prst="roundRect">
            <a:avLst/>
          </a:prstGeom>
          <a:solidFill>
            <a:srgbClr val="F0FDF4"/>
          </a:solidFill>
          <a:ln w="19050">
            <a:solidFill>
              <a:srgbClr val="BBF7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0" y="1645920"/>
            <a:ext cx="484632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 b="1">
                <a:solidFill>
                  <a:srgbClr val="0D9488"/>
                </a:solidFill>
              </a:defRPr>
            </a:pPr>
            <a:r>
              <a:t>Lösung &amp; Diagnose</a:t>
            </a:r>
          </a:p>
          <a:p>
            <a:pPr>
              <a:spcAft>
                <a:spcPts val="400"/>
              </a:spcAft>
              <a:defRPr sz="1200" b="1">
                <a:solidFill>
                  <a:srgbClr val="1E293B"/>
                </a:solidFill>
              </a:defRPr>
            </a:pPr>
            <a:r>
              <a:t>1. JOIN FETCH Abfrage (1 einziger SQL-Join)</a:t>
            </a:r>
          </a:p>
          <a:p>
            <a:pPr>
              <a:spcAft>
                <a:spcPts val="1200"/>
              </a:spcAft>
              <a:defRPr sz="1100">
                <a:solidFill>
                  <a:srgbClr val="2563EB"/>
                </a:solidFill>
                <a:latin typeface="Courier New"/>
              </a:defRPr>
            </a:pPr>
            <a:r>
              <a:t>SELECT DISTINCT s FROM Shop s</a:t>
            </a:r>
            <a:br/>
            <a:r>
              <a:t>LEFT JOIN FETCH s.vehicles</a:t>
            </a:r>
          </a:p>
          <a:p>
            <a:pPr>
              <a:spcAft>
                <a:spcPts val="400"/>
              </a:spcAft>
              <a:defRPr sz="1200" b="1">
                <a:solidFill>
                  <a:srgbClr val="1E293B"/>
                </a:solidFill>
              </a:defRPr>
            </a:pPr>
            <a:r>
              <a:t>2. Batch Fetching per @BatchSize</a:t>
            </a:r>
          </a:p>
          <a:p>
            <a:pPr>
              <a:spcAft>
                <a:spcPts val="1200"/>
              </a:spcAft>
              <a:defRPr sz="1000">
                <a:solidFill>
                  <a:srgbClr val="334155"/>
                </a:solidFill>
                <a:latin typeface="Courier New"/>
              </a:defRPr>
            </a:pPr>
            <a:r>
              <a:t>@OneToMany(mappedBy = "shop")</a:t>
            </a:r>
            <a:br/>
            <a:r>
              <a:t>@BatchSize(size = 25)</a:t>
            </a:r>
            <a:br/>
            <a:r>
              <a:t>private Set&lt;Vehicle&gt; vehicles;</a:t>
            </a:r>
          </a:p>
          <a:p>
            <a:pPr>
              <a:spcAft>
                <a:spcPts val="400"/>
              </a:spcAft>
              <a:defRPr sz="1200" b="1">
                <a:solidFill>
                  <a:srgbClr val="1E293B"/>
                </a:solidFill>
              </a:defRPr>
            </a:pPr>
            <a:r>
              <a:t>Diagnose-Tipp:</a:t>
            </a:r>
          </a:p>
          <a:p>
            <a:pPr>
              <a:spcAft>
                <a:spcPts val="400"/>
              </a:spcAft>
              <a:defRPr sz="1100">
                <a:solidFill>
                  <a:srgbClr val="0F172A"/>
                </a:solidFill>
                <a:latin typeface="Segoe UI"/>
              </a:defRPr>
            </a:pPr>
            <a:r>
              <a:t>• hibernate.show_sql=true im Test aktivieren.</a:t>
            </a:r>
          </a:p>
          <a:p>
            <a:pPr>
              <a:spcAft>
                <a:spcPts val="400"/>
              </a:spcAft>
              <a:defRPr sz="1100">
                <a:solidFill>
                  <a:srgbClr val="0F172A"/>
                </a:solidFill>
                <a:latin typeface="Segoe UI"/>
              </a:defRPr>
            </a:pPr>
            <a:r>
              <a:t>• Query-Count Assertions in Modultests einbauen.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31520" y="365760"/>
            <a:ext cx="10728655" cy="54864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75488"/>
            <a:ext cx="10728655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2563EB"/>
                </a:solidFill>
                <a:latin typeface="Segoe UI"/>
              </a:defRPr>
            </a:pPr>
            <a:r>
              <a:t>TROUBLESHOOTING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49808"/>
            <a:ext cx="1072865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1E293B"/>
                </a:solidFill>
                <a:latin typeface="Segoe UI"/>
              </a:defRPr>
            </a:pPr>
            <a:r>
              <a:t>1.3 Optimistic Locking &amp; Concurrency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463040"/>
            <a:ext cx="5212080" cy="47548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645920"/>
            <a:ext cx="484632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 b="1">
                <a:solidFill>
                  <a:srgbClr val="1E293B"/>
                </a:solidFill>
              </a:defRPr>
            </a:pPr>
            <a:r>
              <a:t>Funktionsweise von @Version</a:t>
            </a:r>
          </a:p>
          <a:p>
            <a:pPr>
              <a:spcAft>
                <a:spcPts val="800"/>
              </a:spcAft>
              <a:defRPr sz="1200">
                <a:solidFill>
                  <a:srgbClr val="0F172A"/>
                </a:solidFill>
                <a:latin typeface="Segoe UI"/>
              </a:defRPr>
            </a:pPr>
            <a:r>
              <a:t>• @Version int version auf der Entity deklariert.</a:t>
            </a:r>
          </a:p>
          <a:p>
            <a:pPr>
              <a:spcAft>
                <a:spcPts val="800"/>
              </a:spcAft>
              <a:defRPr sz="1200">
                <a:solidFill>
                  <a:srgbClr val="0F172A"/>
                </a:solidFill>
                <a:latin typeface="Segoe UI"/>
              </a:defRPr>
            </a:pPr>
            <a:r>
              <a:t>• Verhindert 'Lost Updates' ohne blockierende DB-Sperren.</a:t>
            </a:r>
          </a:p>
          <a:p>
            <a:pPr>
              <a:spcAft>
                <a:spcPts val="800"/>
              </a:spcAft>
              <a:defRPr sz="1200">
                <a:solidFill>
                  <a:srgbClr val="0F172A"/>
                </a:solidFill>
                <a:latin typeface="Segoe UI"/>
              </a:defRPr>
            </a:pPr>
            <a:r>
              <a:t>• Jeder UPDATE prüft und inkrementiert die Version:</a:t>
            </a:r>
          </a:p>
          <a:p>
            <a:pPr>
              <a:spcAft>
                <a:spcPts val="800"/>
              </a:spcAft>
              <a:defRPr sz="1200">
                <a:solidFill>
                  <a:srgbClr val="0F172A"/>
                </a:solidFill>
                <a:latin typeface="Segoe UI"/>
              </a:defRPr>
            </a:pPr>
            <a:r>
              <a:t>• UPDATE VEHICLE SET PRICE=?, VERSION=2 WHERE ID=? AND VERSION=1</a:t>
            </a:r>
          </a:p>
          <a:p>
            <a:pPr>
              <a:spcAft>
                <a:spcPts val="800"/>
              </a:spcAft>
              <a:defRPr sz="1200">
                <a:solidFill>
                  <a:srgbClr val="0F172A"/>
                </a:solidFill>
                <a:latin typeface="Segoe UI"/>
              </a:defRPr>
            </a:pPr>
            <a:r>
              <a:t>• Wurden 0 Zeilen verändert (weil ein anderer User schneller war), wirft JPA OptimisticLockException.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1463040"/>
            <a:ext cx="5212080" cy="47548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0" y="1645920"/>
            <a:ext cx="484632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 b="1">
                <a:solidFill>
                  <a:srgbClr val="2563EB"/>
                </a:solidFill>
              </a:defRPr>
            </a:pPr>
            <a:r>
              <a:t>Sauberes Concurrency-Handling im Code</a:t>
            </a:r>
          </a:p>
          <a:p>
            <a:pPr>
              <a:spcAft>
                <a:spcPts val="1200"/>
              </a:spcAft>
              <a:defRPr sz="1100">
                <a:solidFill>
                  <a:srgbClr val="1E293B"/>
                </a:solidFill>
                <a:latin typeface="Courier New"/>
              </a:defRPr>
            </a:pPr>
            <a:r>
              <a:t>try {</a:t>
            </a:r>
            <a:br/>
            <a:r>
              <a:t>    em.flush();</a:t>
            </a:r>
            <a:br/>
            <a:r>
              <a:t>    em.getTransaction().commit();</a:t>
            </a:r>
            <a:br/>
            <a:r>
              <a:t>} catch (OptimisticLockException e) {</a:t>
            </a:r>
            <a:br/>
            <a:r>
              <a:t>    em.getTransaction().rollback();</a:t>
            </a:r>
            <a:br/>
            <a:r>
              <a:t>    em.clear(); // Persistence Context bereinigen</a:t>
            </a:r>
            <a:br/>
            <a:r>
              <a:t>    // Retry-Muster oder fachliche Meldung</a:t>
            </a:r>
            <a:br/>
            <a:r>
              <a:t>}</a:t>
            </a:r>
          </a:p>
          <a:p>
            <a:pPr>
              <a:spcAft>
                <a:spcPts val="400"/>
              </a:spcAft>
              <a:defRPr sz="1200" b="1">
                <a:solidFill>
                  <a:srgbClr val="1E293B"/>
                </a:solidFill>
              </a:defRPr>
            </a:pPr>
            <a:r>
              <a:t>Wichtige Praxishinweise:</a:t>
            </a:r>
          </a:p>
          <a:p>
            <a:pPr>
              <a:spcAft>
                <a:spcPts val="600"/>
              </a:spcAft>
              <a:defRPr sz="1100">
                <a:solidFill>
                  <a:srgbClr val="0F172A"/>
                </a:solidFill>
                <a:latin typeface="Segoe UI"/>
              </a:defRPr>
            </a:pPr>
            <a:r>
              <a:t>• Nach einer RollbackException / OptimisticLockException ist der EntityManager unbrauchbar -&gt; clear() oder neuen EntityManager öffnen.</a:t>
            </a:r>
          </a:p>
          <a:p>
            <a:pPr>
              <a:spcAft>
                <a:spcPts val="600"/>
              </a:spcAft>
              <a:defRPr sz="1100">
                <a:solidFill>
                  <a:srgbClr val="0F172A"/>
                </a:solidFill>
                <a:latin typeface="Segoe UI"/>
              </a:defRPr>
            </a:pPr>
            <a:r>
              <a:t>• Immer rollback() aufrufen, um Transaktions- und Lock-Zustände freizugeben (besonders bei Derby / H2).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31520" y="365760"/>
            <a:ext cx="10728655" cy="54864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75488"/>
            <a:ext cx="10728655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2563EB"/>
                </a:solidFill>
                <a:latin typeface="Segoe UI"/>
              </a:defRPr>
            </a:pPr>
            <a:r>
              <a:t>TROUBLESHOOTING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49808"/>
            <a:ext cx="1072865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1E293B"/>
                </a:solidFill>
                <a:latin typeface="Segoe UI"/>
              </a:defRPr>
            </a:pPr>
            <a:r>
              <a:t>1.4 Transiente vs. Detached Entity Fehler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463040"/>
            <a:ext cx="5212080" cy="47548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645920"/>
            <a:ext cx="484632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 b="1">
                <a:solidFill>
                  <a:srgbClr val="DC2626"/>
                </a:solidFill>
              </a:defRPr>
            </a:pPr>
            <a:r>
              <a:t>TransientPropertyValueException</a:t>
            </a:r>
          </a:p>
          <a:p>
            <a:pPr>
              <a:spcAft>
                <a:spcPts val="1000"/>
              </a:spcAft>
              <a:defRPr sz="1000">
                <a:solidFill>
                  <a:srgbClr val="1E293B"/>
                </a:solidFill>
                <a:latin typeface="Courier New"/>
              </a:defRPr>
            </a:pPr>
            <a:r>
              <a:t>object references an unsaved transient instance - save the transient instance before flushing</a:t>
            </a:r>
          </a:p>
          <a:p>
            <a:pPr>
              <a:spcAft>
                <a:spcPts val="800"/>
              </a:spcAft>
              <a:defRPr sz="1200">
                <a:solidFill>
                  <a:srgbClr val="0F172A"/>
                </a:solidFill>
                <a:latin typeface="Segoe UI"/>
              </a:defRPr>
            </a:pPr>
            <a:r>
              <a:t>• Ursache: Eine gemanagte Entity verweist auf ein neues (transientes) Objekt, das noch keine DB-ID hat und nicht im Context registriert ist.</a:t>
            </a:r>
          </a:p>
          <a:p>
            <a:pPr>
              <a:spcAft>
                <a:spcPts val="800"/>
              </a:spcAft>
              <a:defRPr sz="1200">
                <a:solidFill>
                  <a:srgbClr val="0F172A"/>
                </a:solidFill>
                <a:latin typeface="Segoe UI"/>
              </a:defRPr>
            </a:pPr>
            <a:r>
              <a:t>• Lösung A: Kind-Objekt vor dem Commit manuell speichern: em.persist(child);</a:t>
            </a:r>
          </a:p>
          <a:p>
            <a:pPr>
              <a:spcAft>
                <a:spcPts val="800"/>
              </a:spcAft>
              <a:defRPr sz="1200">
                <a:solidFill>
                  <a:srgbClr val="0F172A"/>
                </a:solidFill>
                <a:latin typeface="Segoe UI"/>
              </a:defRPr>
            </a:pPr>
            <a:r>
              <a:t>• Lösung B: Kaskadierung deklarieren: cascade = {CascadeType.PERSIST, CascadeType.MERGE}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1463040"/>
            <a:ext cx="5212080" cy="47548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0" y="1645920"/>
            <a:ext cx="484632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 b="1">
                <a:solidFill>
                  <a:srgbClr val="DC2626"/>
                </a:solidFill>
              </a:defRPr>
            </a:pPr>
            <a:r>
              <a:t>PersistentObjectException / EntityExistsException</a:t>
            </a:r>
          </a:p>
          <a:p>
            <a:pPr>
              <a:spcAft>
                <a:spcPts val="1000"/>
              </a:spcAft>
              <a:defRPr sz="1000">
                <a:solidFill>
                  <a:srgbClr val="1E293B"/>
                </a:solidFill>
                <a:latin typeface="Courier New"/>
              </a:defRPr>
            </a:pPr>
            <a:r>
              <a:t>detached entity passed to persist / EntityExistsException</a:t>
            </a:r>
          </a:p>
          <a:p>
            <a:pPr>
              <a:spcAft>
                <a:spcPts val="800"/>
              </a:spcAft>
              <a:defRPr sz="1200">
                <a:solidFill>
                  <a:srgbClr val="0F172A"/>
                </a:solidFill>
                <a:latin typeface="Segoe UI"/>
              </a:defRPr>
            </a:pPr>
            <a:r>
              <a:t>• Ursache: Aufruf von em.persist(entity) auf einem Objekt, das bereits eine ID besitzt oder aus einem vorherigen Session-Kontext stammt (Detached).</a:t>
            </a:r>
          </a:p>
          <a:p>
            <a:pPr>
              <a:spcAft>
                <a:spcPts val="800"/>
              </a:spcAft>
              <a:defRPr sz="1200">
                <a:solidFill>
                  <a:srgbClr val="0F172A"/>
                </a:solidFill>
                <a:latin typeface="Segoe UI"/>
              </a:defRPr>
            </a:pPr>
            <a:r>
              <a:t>• Lösung: Verwende em.merge(entity) statt persist().</a:t>
            </a:r>
          </a:p>
          <a:p>
            <a:pPr>
              <a:spcAft>
                <a:spcPts val="800"/>
              </a:spcAft>
              <a:defRPr sz="1200">
                <a:solidFill>
                  <a:srgbClr val="0F172A"/>
                </a:solidFill>
                <a:latin typeface="Segoe UI"/>
              </a:defRPr>
            </a:pPr>
            <a:r>
              <a:t>• Wichtig: em.merge(detached) gibt eine NEUE gemanagte Instanz zurück! Das Originalobjekt bleibt detached:</a:t>
            </a:r>
          </a:p>
          <a:p>
            <a:pPr>
              <a:spcAft>
                <a:spcPts val="800"/>
              </a:spcAft>
              <a:defRPr sz="1200">
                <a:solidFill>
                  <a:srgbClr val="0F172A"/>
                </a:solidFill>
                <a:latin typeface="Segoe UI"/>
              </a:defRPr>
            </a:pPr>
            <a:r>
              <a:t>• Vehicle managed = em.merge(detachedVehicle);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31520" y="365760"/>
            <a:ext cx="10728655" cy="54864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75488"/>
            <a:ext cx="10728655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2563EB"/>
                </a:solidFill>
                <a:latin typeface="Segoe UI"/>
              </a:defRPr>
            </a:pPr>
            <a:r>
              <a:t>TROUBLESHOOTING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49808"/>
            <a:ext cx="1072865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1E293B"/>
                </a:solidFill>
                <a:latin typeface="Segoe UI"/>
              </a:defRPr>
            </a:pPr>
            <a:r>
              <a:t>1.5 ConstraintViolationException (Bean Validation)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463040"/>
            <a:ext cx="5212080" cy="47548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645920"/>
            <a:ext cx="484632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 b="1">
                <a:solidFill>
                  <a:srgbClr val="DC2626"/>
                </a:solidFill>
              </a:defRPr>
            </a:pPr>
            <a:r>
              <a:t>Symptom &amp; Validierungszeitpunkte</a:t>
            </a:r>
          </a:p>
          <a:p>
            <a:pPr>
              <a:spcAft>
                <a:spcPts val="1200"/>
              </a:spcAft>
              <a:defRPr sz="1000">
                <a:solidFill>
                  <a:srgbClr val="1E293B"/>
                </a:solidFill>
                <a:latin typeface="Courier New"/>
              </a:defRPr>
            </a:pPr>
            <a:r>
              <a:t>jakarta.validation.ConstraintViolationException: Validation failed for classes [net.rentacar.model.ValidatedVehicle] during persist time</a:t>
            </a:r>
          </a:p>
          <a:p>
            <a:pPr>
              <a:spcAft>
                <a:spcPts val="800"/>
              </a:spcAft>
              <a:defRPr sz="1200">
                <a:solidFill>
                  <a:srgbClr val="0F172A"/>
                </a:solidFill>
                <a:latin typeface="Segoe UI"/>
              </a:defRPr>
            </a:pPr>
            <a:r>
              <a:t>• Hibernate integriert Bean Validation (Jakarta Validation) standardmäßig automatisch.</a:t>
            </a:r>
          </a:p>
          <a:p>
            <a:pPr>
              <a:spcAft>
                <a:spcPts val="800"/>
              </a:spcAft>
              <a:defRPr sz="1200">
                <a:solidFill>
                  <a:srgbClr val="0F172A"/>
                </a:solidFill>
                <a:latin typeface="Segoe UI"/>
              </a:defRPr>
            </a:pPr>
            <a:r>
              <a:t>• Validierung greift bei Pre-Persist und Pre-Update (beim flush() oder commit()).</a:t>
            </a:r>
          </a:p>
          <a:p>
            <a:pPr>
              <a:spcAft>
                <a:spcPts val="800"/>
              </a:spcAft>
              <a:defRPr sz="1200">
                <a:solidFill>
                  <a:srgbClr val="0F172A"/>
                </a:solidFill>
                <a:latin typeface="Segoe UI"/>
              </a:defRPr>
            </a:pPr>
            <a:r>
              <a:t>• Beim Transaktions-Commit wird die ConstraintViolationException meist in eine RollbackException eingepackt.</a:t>
            </a:r>
          </a:p>
          <a:p>
            <a:pPr>
              <a:spcAft>
                <a:spcPts val="800"/>
              </a:spcAft>
              <a:defRPr sz="1200">
                <a:solidFill>
                  <a:srgbClr val="0F172A"/>
                </a:solidFill>
                <a:latin typeface="Segoe UI"/>
              </a:defRPr>
            </a:pPr>
            <a:r>
              <a:t>• DDL-Integration: @NotNull erzeugt automatisch NOT NULL, @Size(max=50) erzeugt VARCHAR(50).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1463040"/>
            <a:ext cx="5212080" cy="47548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0" y="1645920"/>
            <a:ext cx="484632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 b="1">
                <a:solidFill>
                  <a:srgbClr val="2563EB"/>
                </a:solidFill>
              </a:defRPr>
            </a:pPr>
            <a:r>
              <a:t>Typische Annotationen &amp; Exception Handling</a:t>
            </a:r>
          </a:p>
          <a:p>
            <a:pPr>
              <a:defRPr sz="1000">
                <a:solidFill>
                  <a:srgbClr val="1E293B"/>
                </a:solidFill>
                <a:latin typeface="Courier New"/>
              </a:defRPr>
            </a:pPr>
            <a:r>
              <a:t>@Entity</a:t>
            </a:r>
            <a:br/>
            <a:r>
              <a:t>public class ValidatedVehicle {</a:t>
            </a:r>
            <a:br/>
            <a:r>
              <a:t>    @NotBlank(message = "Brand darf nicht leer sein")</a:t>
            </a:r>
            <a:br/>
            <a:r>
              <a:t>    private String brand;</a:t>
            </a:r>
            <a:br/>
            <a:br/>
            <a:r>
              <a:t>    @Min(value = 0, message = "Preis darf nicht negativ sein")</a:t>
            </a:r>
            <a:br/>
            <a:r>
              <a:t>    private double price;</a:t>
            </a:r>
            <a:br/>
            <a:r>
              <a:t>}</a:t>
            </a:r>
            <a:br/>
            <a:br/>
            <a:r>
              <a:t>// Test / Service Handling:</a:t>
            </a:r>
            <a:br/>
            <a:r>
              <a:t>try {</a:t>
            </a:r>
            <a:br/>
            <a:r>
              <a:t>    em.flush();</a:t>
            </a:r>
            <a:br/>
            <a:r>
              <a:t>} catch (ConstraintViolationException ex) {</a:t>
            </a:r>
            <a:br/>
            <a:r>
              <a:t>    Set&lt;ConstraintViolation&lt;?&gt;&gt; violations = </a:t>
            </a:r>
            <a:br/>
            <a:r>
              <a:t>        ex.getConstraintViolations();</a:t>
            </a:r>
            <a:br/>
            <a:r>
              <a:t>    // Detaillierte Fehlermeldungen auswerten</a:t>
            </a:r>
            <a:br/>
            <a:r>
              <a:t>}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31520" y="365760"/>
            <a:ext cx="10728655" cy="54864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75488"/>
            <a:ext cx="10728655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2563EB"/>
                </a:solidFill>
                <a:latin typeface="Segoe UI"/>
              </a:defRPr>
            </a:pPr>
            <a:r>
              <a:t>TROUBLESHOOTING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49808"/>
            <a:ext cx="1072865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1E293B"/>
                </a:solidFill>
                <a:latin typeface="Segoe UI"/>
              </a:defRPr>
            </a:pPr>
            <a:r>
              <a:t>1.6 MappedSuperclass &amp; Derby Lock-Verhalten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463040"/>
            <a:ext cx="5212080" cy="47548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645920"/>
            <a:ext cx="484632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 b="1">
                <a:solidFill>
                  <a:srgbClr val="DC2626"/>
                </a:solidFill>
              </a:defRPr>
            </a:pPr>
            <a:r>
              <a:t>Fallstrick @MappedSuperclass</a:t>
            </a:r>
          </a:p>
          <a:p>
            <a:pPr>
              <a:spcAft>
                <a:spcPts val="1000"/>
              </a:spcAft>
              <a:defRPr sz="1000">
                <a:solidFill>
                  <a:srgbClr val="1E293B"/>
                </a:solidFill>
                <a:latin typeface="Courier New"/>
              </a:defRPr>
            </a:pPr>
            <a:r>
              <a:t>java.lang.IllegalArgumentException: Not an entity / Unknown entity: AbstractBusinessObject</a:t>
            </a:r>
          </a:p>
          <a:p>
            <a:pPr>
              <a:spcAft>
                <a:spcPts val="800"/>
              </a:spcAft>
              <a:defRPr sz="1200">
                <a:solidFill>
                  <a:srgbClr val="0F172A"/>
                </a:solidFill>
                <a:latin typeface="Segoe UI"/>
              </a:defRPr>
            </a:pPr>
            <a:r>
              <a:t>• @MappedSuperclass ist KEINE Entity und besitzt keine eigene Tabelle.</a:t>
            </a:r>
          </a:p>
          <a:p>
            <a:pPr>
              <a:spcAft>
                <a:spcPts val="800"/>
              </a:spcAft>
              <a:defRPr sz="1200">
                <a:solidFill>
                  <a:srgbClr val="0F172A"/>
                </a:solidFill>
                <a:latin typeface="Segoe UI"/>
              </a:defRPr>
            </a:pPr>
            <a:r>
              <a:t>• em.find(AbstractBusinessObject.class, id) ist unzulässig!</a:t>
            </a:r>
          </a:p>
          <a:p>
            <a:pPr>
              <a:spcAft>
                <a:spcPts val="800"/>
              </a:spcAft>
              <a:defRPr sz="1200">
                <a:solidFill>
                  <a:srgbClr val="0F172A"/>
                </a:solidFill>
                <a:latin typeface="Segoe UI"/>
              </a:defRPr>
            </a:pPr>
            <a:r>
              <a:t>• Lösung: Immer die konkrete Unterklasse (z.B. em.find(Truck.class, id)) übergeben.</a:t>
            </a:r>
          </a:p>
          <a:p>
            <a:pPr>
              <a:spcAft>
                <a:spcPts val="800"/>
              </a:spcAft>
              <a:defRPr sz="1200">
                <a:solidFill>
                  <a:srgbClr val="0F172A"/>
                </a:solidFill>
                <a:latin typeface="Segoe UI"/>
              </a:defRPr>
            </a:pPr>
            <a:r>
              <a:t>• Für polymorphe Abfragen muss eine echte Vererbungsstrategie (JOINED oder SINGLE_TABLE) gewählt werden.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1463040"/>
            <a:ext cx="5212080" cy="47548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0" y="1645920"/>
            <a:ext cx="484632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 b="1">
                <a:solidFill>
                  <a:srgbClr val="D97706"/>
                </a:solidFill>
              </a:defRPr>
            </a:pPr>
            <a:r>
              <a:t>Derby-spezifische Fallstricke</a:t>
            </a:r>
          </a:p>
          <a:p>
            <a:pPr>
              <a:spcAft>
                <a:spcPts val="600"/>
              </a:spcAft>
              <a:defRPr sz="1100">
                <a:solidFill>
                  <a:srgbClr val="0F172A"/>
                </a:solidFill>
                <a:latin typeface="Segoe UI"/>
              </a:defRPr>
            </a:pPr>
            <a:r>
              <a:t>• 1. LockTimeoutException bei parallelen EntityManagern:</a:t>
            </a:r>
          </a:p>
          <a:p>
            <a:pPr>
              <a:spcAft>
                <a:spcPts val="600"/>
              </a:spcAft>
              <a:defRPr sz="1100">
                <a:solidFill>
                  <a:srgbClr val="0F172A"/>
                </a:solidFill>
                <a:latin typeface="Segoe UI"/>
              </a:defRPr>
            </a:pPr>
            <a:r>
              <a:t>•    - Derby sperrt Tabellensegmente restriktiv.</a:t>
            </a:r>
          </a:p>
          <a:p>
            <a:pPr>
              <a:spcAft>
                <a:spcPts val="600"/>
              </a:spcAft>
              <a:defRPr sz="1100">
                <a:solidFill>
                  <a:srgbClr val="0F172A"/>
                </a:solidFill>
                <a:latin typeface="Segoe UI"/>
              </a:defRPr>
            </a:pPr>
            <a:r>
              <a:t>•    - Wenn Transaktion 1 per persist/flush schreibt, blockiert Transaktion 2 beim Lesen.</a:t>
            </a:r>
          </a:p>
          <a:p>
            <a:pPr>
              <a:spcAft>
                <a:spcPts val="600"/>
              </a:spcAft>
              <a:defRPr sz="1100">
                <a:solidFill>
                  <a:srgbClr val="0F172A"/>
                </a:solidFill>
                <a:latin typeface="Segoe UI"/>
              </a:defRPr>
            </a:pPr>
            <a:r>
              <a:t>•    - Lösung: Transaktionen immer zügig mit commit() oder rollback() abschließen.</a:t>
            </a:r>
          </a:p>
          <a:p>
            <a:pPr>
              <a:spcAft>
                <a:spcPts val="600"/>
              </a:spcAft>
              <a:defRPr sz="1100">
                <a:solidFill>
                  <a:srgbClr val="0F172A"/>
                </a:solidFill>
                <a:latin typeface="Segoe UI"/>
              </a:defRPr>
            </a:pPr>
            <a:r>
              <a:t>• 2. DDL-Warnungen beim Start (create-drop):</a:t>
            </a:r>
          </a:p>
          <a:p>
            <a:pPr>
              <a:spcAft>
                <a:spcPts val="600"/>
              </a:spcAft>
              <a:defRPr sz="1100">
                <a:solidFill>
                  <a:srgbClr val="0F172A"/>
                </a:solidFill>
                <a:latin typeface="Segoe UI"/>
              </a:defRPr>
            </a:pPr>
            <a:r>
              <a:t>•    - DROP TABLE ... cannot be performed because it does not exist.</a:t>
            </a:r>
          </a:p>
          <a:p>
            <a:pPr>
              <a:spcAft>
                <a:spcPts val="600"/>
              </a:spcAft>
              <a:defRPr sz="1100">
                <a:solidFill>
                  <a:srgbClr val="0F172A"/>
                </a:solidFill>
                <a:latin typeface="Segoe UI"/>
              </a:defRPr>
            </a:pPr>
            <a:r>
              <a:t>•    - Normal bei create-drop (Hibernate versucht alte Tabellen zu löschen).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31520" y="365760"/>
            <a:ext cx="10728655" cy="54864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75488"/>
            <a:ext cx="10728655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2563EB"/>
                </a:solidFill>
                <a:latin typeface="Segoe UI"/>
              </a:defRPr>
            </a:pPr>
            <a:r>
              <a:t>ARCHITECTURE &amp; BEST PRACTICES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49808"/>
            <a:ext cx="1072865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1E293B"/>
                </a:solidFill>
                <a:latin typeface="Segoe UI"/>
              </a:defRPr>
            </a:pPr>
            <a:r>
              <a:t>2.1 Assoziationen: FetchType &amp; Ownership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463040"/>
            <a:ext cx="5212080" cy="47548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645920"/>
            <a:ext cx="484632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 b="1">
                <a:solidFill>
                  <a:srgbClr val="1E293B"/>
                </a:solidFill>
              </a:defRPr>
            </a:pPr>
            <a:r>
              <a:t>JPA Default Fetch-Typen &amp; Empfehlungen</a:t>
            </a:r>
          </a:p>
          <a:p>
            <a:pPr>
              <a:spcAft>
                <a:spcPts val="800"/>
              </a:spcAft>
              <a:defRPr sz="1200">
                <a:solidFill>
                  <a:srgbClr val="0F172A"/>
                </a:solidFill>
                <a:latin typeface="Segoe UI"/>
              </a:defRPr>
            </a:pPr>
            <a:r>
              <a:t>• @OneToMany: JPA-Default = LAZY  -&gt; IMMER so belassen!</a:t>
            </a:r>
          </a:p>
          <a:p>
            <a:pPr>
              <a:spcAft>
                <a:spcPts val="800"/>
              </a:spcAft>
              <a:defRPr sz="1200">
                <a:solidFill>
                  <a:srgbClr val="0F172A"/>
                </a:solidFill>
                <a:latin typeface="Segoe UI"/>
              </a:defRPr>
            </a:pPr>
            <a:r>
              <a:t>• @ManyToMany: JPA-Default = LAZY  -&gt; IMMER so belassen!</a:t>
            </a:r>
          </a:p>
          <a:p>
            <a:pPr>
              <a:spcAft>
                <a:spcPts val="800"/>
              </a:spcAft>
              <a:defRPr sz="1200">
                <a:solidFill>
                  <a:srgbClr val="0F172A"/>
                </a:solidFill>
                <a:latin typeface="Segoe UI"/>
              </a:defRPr>
            </a:pPr>
            <a:r>
              <a:t>• @ManyToOne: JPA-Default = EAGER  -&gt; GEFÄHRLICH! In der Praxis immer explizit auf LAZY umstellen:</a:t>
            </a:r>
          </a:p>
          <a:p>
            <a:pPr>
              <a:spcAft>
                <a:spcPts val="800"/>
              </a:spcAft>
              <a:defRPr sz="1200">
                <a:solidFill>
                  <a:srgbClr val="0F172A"/>
                </a:solidFill>
                <a:latin typeface="Segoe UI"/>
              </a:defRPr>
            </a:pPr>
            <a:r>
              <a:t>• @ManyToOne(fetch = FetchType.LAZY)</a:t>
            </a:r>
            <a:br/>
            <a:r>
              <a:t>@JoinColumn(name = "SHOP_ID")</a:t>
            </a:r>
            <a:br/>
            <a:r>
              <a:t>private Shop shop;</a:t>
            </a:r>
          </a:p>
          <a:p>
            <a:pPr>
              <a:spcAft>
                <a:spcPts val="800"/>
              </a:spcAft>
              <a:defRPr sz="1200">
                <a:solidFill>
                  <a:srgbClr val="0F172A"/>
                </a:solidFill>
                <a:latin typeface="Segoe UI"/>
              </a:defRPr>
            </a:pPr>
            <a:r>
              <a:t>• @OneToOne: JPA-Default = EAGER  -&gt; Auf LAZY umstellen (optional = false beachten).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1463040"/>
            <a:ext cx="5212080" cy="47548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0" y="1645920"/>
            <a:ext cx="484632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 b="1">
                <a:solidFill>
                  <a:srgbClr val="2563EB"/>
                </a:solidFill>
              </a:defRPr>
            </a:pPr>
            <a:r>
              <a:t>Owning Side vs. Inverse (mappedBy) Side</a:t>
            </a:r>
          </a:p>
          <a:p>
            <a:pPr>
              <a:spcAft>
                <a:spcPts val="600"/>
              </a:spcAft>
              <a:defRPr sz="1200">
                <a:solidFill>
                  <a:srgbClr val="0F172A"/>
                </a:solidFill>
                <a:latin typeface="Segoe UI"/>
              </a:defRPr>
            </a:pPr>
            <a:r>
              <a:t>• Owning Side (Besitzerseite):</a:t>
            </a:r>
          </a:p>
          <a:p>
            <a:pPr>
              <a:spcAft>
                <a:spcPts val="600"/>
              </a:spcAft>
              <a:defRPr sz="1200">
                <a:solidFill>
                  <a:srgbClr val="0F172A"/>
                </a:solidFill>
                <a:latin typeface="Segoe UI"/>
              </a:defRPr>
            </a:pPr>
            <a:r>
              <a:t>•   - Trägt die @JoinColumn(name='...') Annotation.</a:t>
            </a:r>
          </a:p>
          <a:p>
            <a:pPr>
              <a:spcAft>
                <a:spcPts val="600"/>
              </a:spcAft>
              <a:defRPr sz="1200">
                <a:solidFill>
                  <a:srgbClr val="0F172A"/>
                </a:solidFill>
                <a:latin typeface="Segoe UI"/>
              </a:defRPr>
            </a:pPr>
            <a:r>
              <a:t>•   - Hält den physischen Fremdschlüssel (FK) in der DB-Tabelle.</a:t>
            </a:r>
          </a:p>
          <a:p>
            <a:pPr>
              <a:spcAft>
                <a:spcPts val="600"/>
              </a:spcAft>
              <a:defRPr sz="1200">
                <a:solidFill>
                  <a:srgbClr val="0F172A"/>
                </a:solidFill>
                <a:latin typeface="Segoe UI"/>
              </a:defRPr>
            </a:pPr>
            <a:r>
              <a:t>•   - Nur Änderungen an dieser Seite werden von JPA in SQL UPDATEs/INSERTs übersetzt!</a:t>
            </a:r>
          </a:p>
          <a:p>
            <a:pPr>
              <a:spcAft>
                <a:spcPts val="600"/>
              </a:spcAft>
              <a:defRPr sz="1200">
                <a:solidFill>
                  <a:srgbClr val="0F172A"/>
                </a:solidFill>
                <a:latin typeface="Segoe UI"/>
              </a:defRPr>
            </a:pPr>
            <a:r>
              <a:t>• Inverse Side (Spiegelseite):</a:t>
            </a:r>
          </a:p>
          <a:p>
            <a:pPr>
              <a:spcAft>
                <a:spcPts val="600"/>
              </a:spcAft>
              <a:defRPr sz="1200">
                <a:solidFill>
                  <a:srgbClr val="0F172A"/>
                </a:solidFill>
                <a:latin typeface="Segoe UI"/>
              </a:defRPr>
            </a:pPr>
            <a:r>
              <a:t>•   - Trägt mappedBy = "&lt;attributNameInOwningEntity&gt;".</a:t>
            </a:r>
          </a:p>
          <a:p>
            <a:pPr>
              <a:spcAft>
                <a:spcPts val="600"/>
              </a:spcAft>
              <a:defRPr sz="1200">
                <a:solidFill>
                  <a:srgbClr val="0F172A"/>
                </a:solidFill>
                <a:latin typeface="Segoe UI"/>
              </a:defRPr>
            </a:pPr>
            <a:r>
              <a:t>•   - Darf NIEMALS ein @JoinColumn besitzen.</a:t>
            </a:r>
          </a:p>
          <a:p>
            <a:pPr>
              <a:spcAft>
                <a:spcPts val="600"/>
              </a:spcAft>
              <a:defRPr sz="1200">
                <a:solidFill>
                  <a:srgbClr val="0F172A"/>
                </a:solidFill>
                <a:latin typeface="Segoe UI"/>
              </a:defRPr>
            </a:pPr>
            <a:r>
              <a:t>•   - Dient rein der Navigation im Objektmodell.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31520" y="365760"/>
            <a:ext cx="10728655" cy="54864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75488"/>
            <a:ext cx="10728655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2563EB"/>
                </a:solidFill>
                <a:latin typeface="Segoe UI"/>
              </a:defRPr>
            </a:pPr>
            <a:r>
              <a:t>ARCHITECTURE &amp; BEST PRACTICES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49808"/>
            <a:ext cx="1072865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1E293B"/>
                </a:solidFill>
                <a:latin typeface="Segoe UI"/>
              </a:defRPr>
            </a:pPr>
            <a:r>
              <a:t>2.2 Defensive Synchronisation bidirektionaler Beziehungen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463040"/>
            <a:ext cx="5212080" cy="47548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645920"/>
            <a:ext cx="484632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 b="1">
                <a:solidFill>
                  <a:srgbClr val="1E293B"/>
                </a:solidFill>
              </a:defRPr>
            </a:pPr>
            <a:r>
              <a:t>Das Problem im Java-Hauptspeicher</a:t>
            </a:r>
          </a:p>
          <a:p>
            <a:pPr>
              <a:spcAft>
                <a:spcPts val="800"/>
              </a:spcAft>
              <a:defRPr sz="1200">
                <a:solidFill>
                  <a:srgbClr val="0F172A"/>
                </a:solidFill>
                <a:latin typeface="Segoe UI"/>
              </a:defRPr>
            </a:pPr>
            <a:r>
              <a:t>• In relationalen DBs existiert nur 1 Fremdschlüsselspalte.</a:t>
            </a:r>
          </a:p>
          <a:p>
            <a:pPr>
              <a:spcAft>
                <a:spcPts val="800"/>
              </a:spcAft>
              <a:defRPr sz="1200">
                <a:solidFill>
                  <a:srgbClr val="0F172A"/>
                </a:solidFill>
                <a:latin typeface="Segoe UI"/>
              </a:defRPr>
            </a:pPr>
            <a:r>
              <a:t>• In Java existieren jedoch 2 unabhängige Referenzen (Shop.vehicles und Vehicle.shop).</a:t>
            </a:r>
          </a:p>
          <a:p>
            <a:pPr>
              <a:spcAft>
                <a:spcPts val="800"/>
              </a:spcAft>
              <a:defRPr sz="1200">
                <a:solidFill>
                  <a:srgbClr val="0F172A"/>
                </a:solidFill>
                <a:latin typeface="Segoe UI"/>
              </a:defRPr>
            </a:pPr>
            <a:r>
              <a:t>• Wird nur vehicle.setShop(shop) aufgerufen, weiß shop.getVehicles() im Speicher nichts davon!</a:t>
            </a:r>
          </a:p>
          <a:p>
            <a:pPr>
              <a:spcAft>
                <a:spcPts val="800"/>
              </a:spcAft>
              <a:defRPr sz="1200">
                <a:solidFill>
                  <a:srgbClr val="0F172A"/>
                </a:solidFill>
                <a:latin typeface="Segoe UI"/>
              </a:defRPr>
            </a:pPr>
            <a:r>
              <a:t>• Folge: Inkonsistente Zustände im Persistence Context und Unit Tests schlagen fehl.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1463040"/>
            <a:ext cx="5212080" cy="4754880"/>
          </a:xfrm>
          <a:prstGeom prst="roundRect">
            <a:avLst/>
          </a:prstGeom>
          <a:solidFill>
            <a:srgbClr val="F0FDF4"/>
          </a:solidFill>
          <a:ln w="19050">
            <a:solidFill>
              <a:srgbClr val="BBF7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0" y="1645920"/>
            <a:ext cx="484632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 b="1">
                <a:solidFill>
                  <a:srgbClr val="0D9488"/>
                </a:solidFill>
              </a:defRPr>
            </a:pPr>
            <a:r>
              <a:t>Best Practice: Helper-Methoden in Entity</a:t>
            </a:r>
          </a:p>
          <a:p>
            <a:pPr>
              <a:defRPr sz="1000">
                <a:solidFill>
                  <a:srgbClr val="1E293B"/>
                </a:solidFill>
                <a:latin typeface="Courier New"/>
              </a:defRPr>
            </a:pPr>
            <a:r>
              <a:t>@Entity</a:t>
            </a:r>
            <a:br/>
            <a:r>
              <a:t>public class Shop {</a:t>
            </a:r>
            <a:br/>
            <a:r>
              <a:t>    @OneToMany(mappedBy = "shop", cascade = CascadeType.ALL, orphanRemoval = true)</a:t>
            </a:r>
            <a:br/>
            <a:r>
              <a:t>    private Set&lt;Vehicle&gt; vehicles = new HashSet&lt;&gt;();</a:t>
            </a:r>
            <a:br/>
            <a:br/>
            <a:r>
              <a:t>    public void addVehicle(Vehicle vehicle) {</a:t>
            </a:r>
            <a:br/>
            <a:r>
              <a:t>        this.vehicles.add(vehicle);</a:t>
            </a:r>
            <a:br/>
            <a:r>
              <a:t>        vehicle.setShop(this); // Owning-Side synchronisieren!</a:t>
            </a:r>
            <a:br/>
            <a:r>
              <a:t>    }</a:t>
            </a:r>
            <a:br/>
            <a:br/>
            <a:r>
              <a:t>    public void removeVehicle(Vehicle vehicle) {</a:t>
            </a:r>
            <a:br/>
            <a:r>
              <a:t>        this.vehicles.remove(vehicle);</a:t>
            </a:r>
            <a:br/>
            <a:r>
              <a:t>        vehicle.setShop(null);</a:t>
            </a:r>
            <a:br/>
            <a:r>
              <a:t>    }</a:t>
            </a:r>
            <a:br/>
            <a:r>
              <a:t>}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31520" y="365760"/>
            <a:ext cx="10728655" cy="54864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75488"/>
            <a:ext cx="10728655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2563EB"/>
                </a:solidFill>
                <a:latin typeface="Segoe UI"/>
              </a:defRPr>
            </a:pPr>
            <a:r>
              <a:t>ARCHITECTURE &amp; BEST PRACTICES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49808"/>
            <a:ext cx="1072865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1E293B"/>
                </a:solidFill>
                <a:latin typeface="Segoe UI"/>
              </a:defRPr>
            </a:pPr>
            <a:r>
              <a:t>2.3 equals() &amp; hashCode() bei JPA Entities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463040"/>
            <a:ext cx="5212080" cy="47548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645920"/>
            <a:ext cx="484632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 b="1">
                <a:solidFill>
                  <a:srgbClr val="1E293B"/>
                </a:solidFill>
              </a:defRPr>
            </a:pPr>
            <a:r>
              <a:t>Die 3 goldenen Regeln</a:t>
            </a:r>
          </a:p>
          <a:p>
            <a:pPr>
              <a:spcAft>
                <a:spcPts val="600"/>
              </a:spcAft>
              <a:defRPr sz="1100">
                <a:solidFill>
                  <a:srgbClr val="0F172A"/>
                </a:solidFill>
                <a:latin typeface="Segoe UI"/>
              </a:defRPr>
            </a:pPr>
            <a:r>
              <a:t>• 1. Niemals nur @Id für hashCode() verwenden bei @GeneratedValue!</a:t>
            </a:r>
          </a:p>
          <a:p>
            <a:pPr>
              <a:spcAft>
                <a:spcPts val="600"/>
              </a:spcAft>
              <a:defRPr sz="1100">
                <a:solidFill>
                  <a:srgbClr val="0F172A"/>
                </a:solidFill>
                <a:latin typeface="Segoe UI"/>
              </a:defRPr>
            </a:pPr>
            <a:r>
              <a:t>•    - Vor persist(): id == null (hashCode = 0)</a:t>
            </a:r>
          </a:p>
          <a:p>
            <a:pPr>
              <a:spcAft>
                <a:spcPts val="600"/>
              </a:spcAft>
              <a:defRPr sz="1100">
                <a:solidFill>
                  <a:srgbClr val="0F172A"/>
                </a:solidFill>
                <a:latin typeface="Segoe UI"/>
              </a:defRPr>
            </a:pPr>
            <a:r>
              <a:t>•    - Nach persist(): id = 42 (hashCode ändert sich)</a:t>
            </a:r>
          </a:p>
          <a:p>
            <a:pPr>
              <a:spcAft>
                <a:spcPts val="600"/>
              </a:spcAft>
              <a:defRPr sz="1100">
                <a:solidFill>
                  <a:srgbClr val="0F172A"/>
                </a:solidFill>
                <a:latin typeface="Segoe UI"/>
              </a:defRPr>
            </a:pPr>
            <a:r>
              <a:t>•    - In HashSet/HashMap wird das Objekt nicht mehr wiedergefunden!</a:t>
            </a:r>
          </a:p>
          <a:p>
            <a:pPr>
              <a:spcAft>
                <a:spcPts val="600"/>
              </a:spcAft>
              <a:defRPr sz="1100">
                <a:solidFill>
                  <a:srgbClr val="0F172A"/>
                </a:solidFill>
                <a:latin typeface="Segoe UI"/>
              </a:defRPr>
            </a:pPr>
            <a:r>
              <a:t>• 2. Bevorzugt: Natürlicher fachlicher Schlüssel (Business Key)</a:t>
            </a:r>
          </a:p>
          <a:p>
            <a:pPr>
              <a:spcAft>
                <a:spcPts val="600"/>
              </a:spcAft>
              <a:defRPr sz="1100">
                <a:solidFill>
                  <a:srgbClr val="0F172A"/>
                </a:solidFill>
                <a:latin typeface="Segoe UI"/>
              </a:defRPr>
            </a:pPr>
            <a:r>
              <a:t>•    - Unveränderliche Attribute wie FIN (Fahrgestellnummer), IBAN, E-Mail oder UUID.</a:t>
            </a:r>
          </a:p>
          <a:p>
            <a:pPr>
              <a:spcAft>
                <a:spcPts val="600"/>
              </a:spcAft>
              <a:defRPr sz="1100">
                <a:solidFill>
                  <a:srgbClr val="0F172A"/>
                </a:solidFill>
                <a:latin typeface="Segoe UI"/>
              </a:defRPr>
            </a:pPr>
            <a:r>
              <a:t>• 3. Fallback ohne Business Key: Konstanter HashCode</a:t>
            </a:r>
          </a:p>
          <a:p>
            <a:pPr>
              <a:spcAft>
                <a:spcPts val="600"/>
              </a:spcAft>
              <a:defRPr sz="1100">
                <a:solidFill>
                  <a:srgbClr val="0F172A"/>
                </a:solidFill>
                <a:latin typeface="Segoe UI"/>
              </a:defRPr>
            </a:pPr>
            <a:r>
              <a:t>•    - hashCode() { return getClass().hashCode(); }</a:t>
            </a:r>
          </a:p>
          <a:p>
            <a:pPr>
              <a:spcAft>
                <a:spcPts val="600"/>
              </a:spcAft>
              <a:defRPr sz="1100">
                <a:solidFill>
                  <a:srgbClr val="0F172A"/>
                </a:solidFill>
                <a:latin typeface="Segoe UI"/>
              </a:defRPr>
            </a:pPr>
            <a:r>
              <a:t>•    - equals() vergleicht Identität &amp; DB-ID (sofern != null).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1463040"/>
            <a:ext cx="5212080" cy="47548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0" y="1645920"/>
            <a:ext cx="484632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 b="1">
                <a:solidFill>
                  <a:srgbClr val="2563EB"/>
                </a:solidFill>
              </a:defRPr>
            </a:pPr>
            <a:r>
              <a:t>Muster-Implementierung (Business Key)</a:t>
            </a:r>
          </a:p>
          <a:p>
            <a:pPr>
              <a:spcAft>
                <a:spcPts val="1000"/>
              </a:spcAft>
              <a:defRPr sz="1100">
                <a:solidFill>
                  <a:srgbClr val="1E293B"/>
                </a:solidFill>
                <a:latin typeface="Courier New"/>
              </a:defRPr>
            </a:pPr>
            <a:r>
              <a:t>@Override</a:t>
            </a:r>
            <a:br/>
            <a:r>
              <a:t>public boolean equals(Object o) {</a:t>
            </a:r>
            <a:br/>
            <a:r>
              <a:t>    if (this == o) return true;</a:t>
            </a:r>
            <a:br/>
            <a:r>
              <a:t>    if (!(o instanceof Vehicle other)) return false;</a:t>
            </a:r>
            <a:br/>
            <a:r>
              <a:t>    // Proxy-sicherer Zugriff per Getter</a:t>
            </a:r>
            <a:br/>
            <a:r>
              <a:t>    return getFin() != null &amp;&amp; getFin().equals(other.getFin());</a:t>
            </a:r>
            <a:br/>
            <a:r>
              <a:t>}</a:t>
            </a:r>
            <a:br/>
            <a:br/>
            <a:r>
              <a:t>@Override</a:t>
            </a:r>
            <a:br/>
            <a:r>
              <a:t>public int hashCode() {</a:t>
            </a:r>
            <a:br/>
            <a:r>
              <a:t>    // Feste Basisklasse oder Business-Key</a:t>
            </a:r>
            <a:br/>
            <a:r>
              <a:t>    return getClass().hashCode();</a:t>
            </a:r>
            <a:br/>
            <a:r>
              <a:t>}</a:t>
            </a:r>
          </a:p>
          <a:p>
            <a:pPr>
              <a:defRPr sz="1100">
                <a:solidFill>
                  <a:srgbClr val="D97706"/>
                </a:solidFill>
              </a:defRPr>
            </a:pPr>
            <a:r>
              <a:t>Wichtig: Getter verwenden, da Hibernate Lazy-Proxies bei direktem Feldzugriff null zurückgeben können!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31520" y="365760"/>
            <a:ext cx="10728655" cy="54864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75488"/>
            <a:ext cx="10728655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2563EB"/>
                </a:solidFill>
                <a:latin typeface="Segoe UI"/>
              </a:defRPr>
            </a:pPr>
            <a:r>
              <a:t>PERFORMANCE &amp; MEMORY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49808"/>
            <a:ext cx="1072865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1E293B"/>
                </a:solidFill>
                <a:latin typeface="Segoe UI"/>
              </a:defRPr>
            </a:pPr>
            <a:r>
              <a:t>2.4 Persistence Context &amp; Batch Processing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463040"/>
            <a:ext cx="5212080" cy="47548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645920"/>
            <a:ext cx="484632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 b="1">
                <a:solidFill>
                  <a:srgbClr val="1E293B"/>
                </a:solidFill>
              </a:defRPr>
            </a:pPr>
            <a:r>
              <a:t>Zustände des Persistence Contexts</a:t>
            </a:r>
          </a:p>
          <a:p>
            <a:pPr>
              <a:spcAft>
                <a:spcPts val="800"/>
              </a:spcAft>
              <a:defRPr sz="1200">
                <a:solidFill>
                  <a:srgbClr val="0F172A"/>
                </a:solidFill>
                <a:latin typeface="Segoe UI"/>
              </a:defRPr>
            </a:pPr>
            <a:r>
              <a:t>• NEW (Transient): Neu mit new erzeugt, keine DB-ID, nicht im Persistence Context.</a:t>
            </a:r>
          </a:p>
          <a:p>
            <a:pPr>
              <a:spcAft>
                <a:spcPts val="800"/>
              </a:spcAft>
              <a:defRPr sz="1200">
                <a:solidFill>
                  <a:srgbClr val="0F172A"/>
                </a:solidFill>
                <a:latin typeface="Segoe UI"/>
              </a:defRPr>
            </a:pPr>
            <a:r>
              <a:t>• MANAGED: An EntityManager gebunden. Änderungen werden bei flush()/commit() automatisch persistiert (Dirty Checking).</a:t>
            </a:r>
          </a:p>
          <a:p>
            <a:pPr>
              <a:spcAft>
                <a:spcPts val="800"/>
              </a:spcAft>
              <a:defRPr sz="1200">
                <a:solidFill>
                  <a:srgbClr val="0F172A"/>
                </a:solidFill>
                <a:latin typeface="Segoe UI"/>
              </a:defRPr>
            </a:pPr>
            <a:r>
              <a:t>• DETACHED: War managed, Session wurde geschlossen (close()) oder detach()/clear() aufgerufen.</a:t>
            </a:r>
          </a:p>
          <a:p>
            <a:pPr>
              <a:spcAft>
                <a:spcPts val="800"/>
              </a:spcAft>
              <a:defRPr sz="1200">
                <a:solidFill>
                  <a:srgbClr val="0F172A"/>
                </a:solidFill>
                <a:latin typeface="Segoe UI"/>
              </a:defRPr>
            </a:pPr>
            <a:r>
              <a:t>• REMOVED: Zur Löschung vorgemerkt (em.remove()), wird beim nächsten Flush mit DELETE entfernt.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1463040"/>
            <a:ext cx="5212080" cy="47548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0" y="1645920"/>
            <a:ext cx="484632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 b="1">
                <a:solidFill>
                  <a:srgbClr val="2563EB"/>
                </a:solidFill>
              </a:defRPr>
            </a:pPr>
            <a:r>
              <a:t>Batch Processing: OutOfMemory vermeiden</a:t>
            </a:r>
          </a:p>
          <a:p>
            <a:pPr>
              <a:spcAft>
                <a:spcPts val="1000"/>
              </a:spcAft>
              <a:defRPr sz="1100">
                <a:solidFill>
                  <a:srgbClr val="1E293B"/>
                </a:solidFill>
                <a:latin typeface="Courier New"/>
              </a:defRPr>
            </a:pPr>
            <a:r>
              <a:t>em.getTransaction().begin();</a:t>
            </a:r>
            <a:br/>
            <a:r>
              <a:t>for (int i = 0; i &lt; largeList.size(); i++) {</a:t>
            </a:r>
            <a:br/>
            <a:r>
              <a:t>    em.persist(largeList.get(i));</a:t>
            </a:r>
            <a:br/>
            <a:r>
              <a:t>    if (i &gt; 0 &amp;&amp; i % 50 == 0) {</a:t>
            </a:r>
            <a:br/>
            <a:r>
              <a:t>        em.flush(); // Sendet SQL INSERTs an DB</a:t>
            </a:r>
            <a:br/>
            <a:r>
              <a:t>        em.clear(); // Leert 1st-Level Cache!</a:t>
            </a:r>
            <a:br/>
            <a:r>
              <a:t>    }</a:t>
            </a:r>
            <a:br/>
            <a:r>
              <a:t>}</a:t>
            </a:r>
            <a:br/>
            <a:r>
              <a:t>em.getTransaction().commit();</a:t>
            </a:r>
          </a:p>
          <a:p>
            <a:pPr>
              <a:spcAft>
                <a:spcPts val="400"/>
              </a:spcAft>
              <a:defRPr sz="1100">
                <a:solidFill>
                  <a:srgbClr val="0F172A"/>
                </a:solidFill>
                <a:latin typeface="Segoe UI"/>
              </a:defRPr>
            </a:pPr>
            <a:r>
              <a:t>• Ohne clear() wächst der Persistence Context unbegrenzt.</a:t>
            </a:r>
          </a:p>
          <a:p>
            <a:pPr>
              <a:spcAft>
                <a:spcPts val="400"/>
              </a:spcAft>
              <a:defRPr sz="1100">
                <a:solidFill>
                  <a:srgbClr val="0F172A"/>
                </a:solidFill>
                <a:latin typeface="Segoe UI"/>
              </a:defRPr>
            </a:pPr>
            <a:r>
              <a:t>• hibernate.jdbc.batch_size=50 in persistence.xml konfigurieren für echtes JDBC Batching.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31520" y="365760"/>
            <a:ext cx="10728655" cy="54864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75488"/>
            <a:ext cx="10728655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2563EB"/>
                </a:solidFill>
                <a:latin typeface="Segoe UI"/>
              </a:defRPr>
            </a:pPr>
            <a:r>
              <a:t>ABFRAGE-OPTIMIERUNG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49808"/>
            <a:ext cx="1072865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1E293B"/>
                </a:solidFill>
                <a:latin typeface="Segoe UI"/>
              </a:defRPr>
            </a:pPr>
            <a:r>
              <a:t>2.5 DTO-Projektionen vs. Entity-Queries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463040"/>
            <a:ext cx="5212080" cy="47548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645920"/>
            <a:ext cx="484632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 b="1">
                <a:solidFill>
                  <a:srgbClr val="1E293B"/>
                </a:solidFill>
              </a:defRPr>
            </a:pPr>
            <a:r>
              <a:t>Constructor Expression (SELECT new ...)</a:t>
            </a:r>
          </a:p>
          <a:p>
            <a:pPr>
              <a:spcAft>
                <a:spcPts val="1000"/>
              </a:spcAft>
              <a:defRPr sz="1000">
                <a:solidFill>
                  <a:srgbClr val="1E293B"/>
                </a:solidFill>
                <a:latin typeface="Courier New"/>
              </a:defRPr>
            </a:pPr>
            <a:r>
              <a:t>// Java Record als leichtgewichtiges DTO:</a:t>
            </a:r>
            <a:br/>
            <a:r>
              <a:t>public record VehicleSummaryDto(</a:t>
            </a:r>
            <a:br/>
            <a:r>
              <a:t>    String brand, String modelName, String shopCity</a:t>
            </a:r>
            <a:br/>
            <a:r>
              <a:t>) {}</a:t>
            </a:r>
            <a:br/>
            <a:br/>
            <a:r>
              <a:t>// JPQL Query:</a:t>
            </a:r>
            <a:br/>
            <a:r>
              <a:t>List&lt;VehicleSummaryDto&gt; dtos = em.createQuery(</a:t>
            </a:r>
            <a:br/>
            <a:r>
              <a:t>    "SELECT new net.rentacar.dto.VehicleSummaryDto(" +</a:t>
            </a:r>
            <a:br/>
            <a:r>
              <a:t>    "  v.brand, v.model.name, s.city) " +</a:t>
            </a:r>
            <a:br/>
            <a:r>
              <a:t>    "FROM Vehicle v JOIN v.shop s",</a:t>
            </a:r>
            <a:br/>
            <a:r>
              <a:t>    VehicleSummaryDto.class</a:t>
            </a:r>
            <a:br/>
            <a:r>
              <a:t>).getResultList();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1463040"/>
            <a:ext cx="5212080" cy="4754880"/>
          </a:xfrm>
          <a:prstGeom prst="roundRect">
            <a:avLst/>
          </a:prstGeom>
          <a:solidFill>
            <a:srgbClr val="F0FDF4"/>
          </a:solidFill>
          <a:ln w="19050">
            <a:solidFill>
              <a:srgbClr val="BBF7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0" y="1645920"/>
            <a:ext cx="484632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 b="1">
                <a:solidFill>
                  <a:srgbClr val="0D9488"/>
                </a:solidFill>
              </a:defRPr>
            </a:pPr>
            <a:r>
              <a:t>Warum DTOs für Leseoperationen?</a:t>
            </a:r>
          </a:p>
          <a:p>
            <a:pPr>
              <a:spcAft>
                <a:spcPts val="800"/>
              </a:spcAft>
              <a:defRPr sz="1200">
                <a:solidFill>
                  <a:srgbClr val="0F172A"/>
                </a:solidFill>
                <a:latin typeface="Segoe UI"/>
              </a:defRPr>
            </a:pPr>
            <a:r>
              <a:t>• Maximale Performance: Es werden nur exakt die selektierten Spalten über das Netzwerk übertragen.</a:t>
            </a:r>
          </a:p>
          <a:p>
            <a:pPr>
              <a:spcAft>
                <a:spcPts val="800"/>
              </a:spcAft>
              <a:defRPr sz="1200">
                <a:solidFill>
                  <a:srgbClr val="0F172A"/>
                </a:solidFill>
                <a:latin typeface="Segoe UI"/>
              </a:defRPr>
            </a:pPr>
            <a:r>
              <a:t>• Keine LazyInitializationException: DTOs sind reine POJOs/Records ohne Hibernate-Proxies und völlig sicher im UI- und REST-Layer.</a:t>
            </a:r>
          </a:p>
          <a:p>
            <a:pPr>
              <a:spcAft>
                <a:spcPts val="800"/>
              </a:spcAft>
              <a:defRPr sz="1200">
                <a:solidFill>
                  <a:srgbClr val="0F172A"/>
                </a:solidFill>
                <a:latin typeface="Segoe UI"/>
              </a:defRPr>
            </a:pPr>
            <a:r>
              <a:t>• Geringer Speicherverbrauch: Der Persistence Context wird nicht mit gemanagten Entity-Instanzen belastet.</a:t>
            </a:r>
          </a:p>
          <a:p>
            <a:pPr>
              <a:spcAft>
                <a:spcPts val="800"/>
              </a:spcAft>
              <a:defRPr sz="1200">
                <a:solidFill>
                  <a:srgbClr val="0F172A"/>
                </a:solidFill>
                <a:latin typeface="Segoe UI"/>
              </a:defRPr>
            </a:pPr>
            <a:r>
              <a:t>• Dirty Checking entfällt: Hibernate muss keine Snapshots verwalten.</a:t>
            </a:r>
          </a:p>
          <a:p>
            <a:pPr>
              <a:spcAft>
                <a:spcPts val="800"/>
              </a:spcAft>
              <a:defRPr sz="1200">
                <a:solidFill>
                  <a:srgbClr val="0F172A"/>
                </a:solidFill>
                <a:latin typeface="Segoe UI"/>
              </a:defRPr>
            </a:pPr>
            <a:r>
              <a:t>• Ideal für Listenansichten, Suchmasken und Aggregationen.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31520" y="365760"/>
            <a:ext cx="10728655" cy="54864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75488"/>
            <a:ext cx="10728655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2563EB"/>
                </a:solidFill>
                <a:latin typeface="Segoe UI"/>
              </a:defRPr>
            </a:pPr>
            <a:r>
              <a:t>ARCHITECTURE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49808"/>
            <a:ext cx="1072865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1E293B"/>
                </a:solidFill>
                <a:latin typeface="Segoe UI"/>
              </a:defRPr>
            </a:pPr>
            <a:r>
              <a:t>2.6 Primärschlüssel-Strategien im Vergleich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463040"/>
            <a:ext cx="2560320" cy="47548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31520" y="1463040"/>
            <a:ext cx="2560320" cy="54864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IDENTITY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2103120"/>
            <a:ext cx="228600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b="1" sz="1100"/>
            </a:pPr>
            <a:r>
              <a:t>Funktion:</a:t>
            </a:r>
          </a:p>
          <a:p>
            <a:pPr>
              <a:spcAft>
                <a:spcPts val="800"/>
              </a:spcAft>
              <a:defRPr sz="1000"/>
            </a:pPr>
            <a:r>
              <a:t>Auto-Increment Spalte</a:t>
            </a:r>
          </a:p>
          <a:p>
            <a:pPr>
              <a:spcAft>
                <a:spcPts val="200"/>
              </a:spcAft>
              <a:defRPr b="1" sz="1100">
                <a:solidFill>
                  <a:srgbClr val="0D9488"/>
                </a:solidFill>
              </a:defRPr>
            </a:pPr>
            <a:r>
              <a:t>+ Vorteil:</a:t>
            </a:r>
          </a:p>
          <a:p>
            <a:pPr>
              <a:spcAft>
                <a:spcPts val="800"/>
              </a:spcAft>
              <a:defRPr sz="1000"/>
            </a:pPr>
            <a:r>
              <a:t>Einfach, breite DB-Unterstützung</a:t>
            </a:r>
          </a:p>
          <a:p>
            <a:pPr>
              <a:spcAft>
                <a:spcPts val="200"/>
              </a:spcAft>
              <a:defRPr b="1" sz="1100">
                <a:solidFill>
                  <a:srgbClr val="DC2626"/>
                </a:solidFill>
              </a:defRPr>
            </a:pPr>
            <a:r>
              <a:t>- Nachteil:</a:t>
            </a:r>
          </a:p>
          <a:p>
            <a:pPr>
              <a:defRPr sz="1000"/>
            </a:pPr>
            <a:r>
              <a:t>Verhindert JDBC Batching! (Insert muss sofort ausgeführt werden)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429000" y="1463040"/>
            <a:ext cx="2560320" cy="47548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429000" y="1463040"/>
            <a:ext cx="2560320" cy="548640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SEQUENCE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566160" y="2103120"/>
            <a:ext cx="228600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b="1" sz="1100"/>
            </a:pPr>
            <a:r>
              <a:t>Funktion:</a:t>
            </a:r>
          </a:p>
          <a:p>
            <a:pPr>
              <a:spcAft>
                <a:spcPts val="800"/>
              </a:spcAft>
              <a:defRPr sz="1000"/>
            </a:pPr>
            <a:r>
              <a:t>DB Sequence Generator</a:t>
            </a:r>
          </a:p>
          <a:p>
            <a:pPr>
              <a:spcAft>
                <a:spcPts val="200"/>
              </a:spcAft>
              <a:defRPr b="1" sz="1100">
                <a:solidFill>
                  <a:srgbClr val="0D9488"/>
                </a:solidFill>
              </a:defRPr>
            </a:pPr>
            <a:r>
              <a:t>+ Vorteil:</a:t>
            </a:r>
          </a:p>
          <a:p>
            <a:pPr>
              <a:spcAft>
                <a:spcPts val="800"/>
              </a:spcAft>
              <a:defRPr sz="1000"/>
            </a:pPr>
            <a:r>
              <a:t>Voll Batching-fähig, sehr performant mit allocationSize=50</a:t>
            </a:r>
          </a:p>
          <a:p>
            <a:pPr>
              <a:spcAft>
                <a:spcPts val="200"/>
              </a:spcAft>
              <a:defRPr b="1" sz="1100">
                <a:solidFill>
                  <a:srgbClr val="DC2626"/>
                </a:solidFill>
              </a:defRPr>
            </a:pPr>
            <a:r>
              <a:t>- Nachteil:</a:t>
            </a:r>
          </a:p>
          <a:p>
            <a:pPr>
              <a:defRPr sz="1000"/>
            </a:pPr>
            <a:r>
              <a:t>Erfordert Sequence-Support der Datenbank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26480" y="1463040"/>
            <a:ext cx="2560320" cy="47548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126480" y="1463040"/>
            <a:ext cx="2560320" cy="548640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TABLE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63640" y="2103120"/>
            <a:ext cx="228600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b="1" sz="1100"/>
            </a:pPr>
            <a:r>
              <a:t>Funktion:</a:t>
            </a:r>
          </a:p>
          <a:p>
            <a:pPr>
              <a:spcAft>
                <a:spcPts val="800"/>
              </a:spcAft>
              <a:defRPr sz="1000"/>
            </a:pPr>
            <a:r>
              <a:t>Eigene Zählertabelle</a:t>
            </a:r>
          </a:p>
          <a:p>
            <a:pPr>
              <a:spcAft>
                <a:spcPts val="200"/>
              </a:spcAft>
              <a:defRPr b="1" sz="1100">
                <a:solidFill>
                  <a:srgbClr val="0D9488"/>
                </a:solidFill>
              </a:defRPr>
            </a:pPr>
            <a:r>
              <a:t>+ Vorteil:</a:t>
            </a:r>
          </a:p>
          <a:p>
            <a:pPr>
              <a:spcAft>
                <a:spcPts val="800"/>
              </a:spcAft>
              <a:defRPr sz="1000"/>
            </a:pPr>
            <a:r>
              <a:t>100% datenbankunabhängig</a:t>
            </a:r>
          </a:p>
          <a:p>
            <a:pPr>
              <a:spcAft>
                <a:spcPts val="200"/>
              </a:spcAft>
              <a:defRPr b="1" sz="1100">
                <a:solidFill>
                  <a:srgbClr val="DC2626"/>
                </a:solidFill>
              </a:defRPr>
            </a:pPr>
            <a:r>
              <a:t>- Nachteil:</a:t>
            </a:r>
          </a:p>
          <a:p>
            <a:pPr>
              <a:defRPr sz="1000"/>
            </a:pPr>
            <a:r>
              <a:t>Langsam durch separate Tabellen-Locks &amp; Update-Transaktionen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823960" y="1463040"/>
            <a:ext cx="2560320" cy="47548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823960" y="1463040"/>
            <a:ext cx="2560320" cy="548640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@IdClass / @EmbeddedId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961120" y="2103120"/>
            <a:ext cx="228600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b="1" sz="1100"/>
            </a:pPr>
            <a:r>
              <a:t>Funktion:</a:t>
            </a:r>
          </a:p>
          <a:p>
            <a:pPr>
              <a:spcAft>
                <a:spcPts val="800"/>
              </a:spcAft>
              <a:defRPr sz="1000"/>
            </a:pPr>
            <a:r>
              <a:t>Zusammengesetzter Schlüssel</a:t>
            </a:r>
          </a:p>
          <a:p>
            <a:pPr>
              <a:spcAft>
                <a:spcPts val="200"/>
              </a:spcAft>
              <a:defRPr b="1" sz="1100">
                <a:solidFill>
                  <a:srgbClr val="0D9488"/>
                </a:solidFill>
              </a:defRPr>
            </a:pPr>
            <a:r>
              <a:t>+ Vorteil:</a:t>
            </a:r>
          </a:p>
          <a:p>
            <a:pPr>
              <a:spcAft>
                <a:spcPts val="800"/>
              </a:spcAft>
              <a:defRPr sz="1000"/>
            </a:pPr>
            <a:r>
              <a:t>Ideal für Alttabellen ohne künstlichen PK</a:t>
            </a:r>
          </a:p>
          <a:p>
            <a:pPr>
              <a:spcAft>
                <a:spcPts val="200"/>
              </a:spcAft>
              <a:defRPr b="1" sz="1100">
                <a:solidFill>
                  <a:srgbClr val="DC2626"/>
                </a:solidFill>
              </a:defRPr>
            </a:pPr>
            <a:r>
              <a:t>- Nachteil:</a:t>
            </a:r>
          </a:p>
          <a:p>
            <a:pPr>
              <a:defRPr sz="1000"/>
            </a:pPr>
            <a:r>
              <a:t>Aufwendigeres Mapping (equals, hashCode, Serializable)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31520" y="365760"/>
            <a:ext cx="10728655" cy="54864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75488"/>
            <a:ext cx="10728655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2563EB"/>
                </a:solidFill>
                <a:latin typeface="Segoe UI"/>
              </a:defRPr>
            </a:pPr>
            <a:r>
              <a:t>REFERENZ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49808"/>
            <a:ext cx="1072865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1E293B"/>
                </a:solidFill>
                <a:latin typeface="Segoe UI"/>
              </a:defRPr>
            </a:pPr>
            <a:r>
              <a:t>3.1 CascadeType-Entscheidungsmatrix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731520" y="1463040"/>
          <a:ext cx="10728655" cy="3840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03120"/>
                <a:gridCol w="4297680"/>
                <a:gridCol w="4327855"/>
              </a:tblGrid>
              <a:tr h="640080">
                <a:tc>
                  <a:txBody>
                    <a:bodyPr/>
                    <a:lstStyle/>
                    <a:p>
                      <a:pPr>
                        <a:defRPr b="1" sz="1200">
                          <a:solidFill>
                            <a:srgbClr val="FFFFFF"/>
                          </a:solidFill>
                        </a:defRPr>
                      </a:pPr>
                      <a:r>
                        <a:t>CascadeType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200">
                          <a:solidFill>
                            <a:srgbClr val="FFFFFF"/>
                          </a:solidFill>
                        </a:defRPr>
                      </a:pPr>
                      <a:r>
                        <a:t>Wirkung auf Kind-Objekt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200">
                          <a:solidFill>
                            <a:srgbClr val="FFFFFF"/>
                          </a:solidFill>
                        </a:defRPr>
                      </a:pPr>
                      <a:r>
                        <a:t>Typischer Anwendungsfall &amp; Warnung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1E293B"/>
                          </a:solidFill>
                        </a:defRPr>
                      </a:pPr>
                      <a:r>
                        <a:t>PERSIST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E293B"/>
                          </a:solidFill>
                        </a:defRPr>
                      </a:pPr>
                      <a:r>
                        <a:t>Kind wird beim persist(parent) automatisch mitgespeichert.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E293B"/>
                          </a:solidFill>
                        </a:defRPr>
                      </a:pPr>
                      <a:r>
                        <a:t>Aggregate Roots, Kompositionen (Rechnung -&gt; Positionen).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1E293B"/>
                          </a:solidFill>
                        </a:defRPr>
                      </a:pPr>
                      <a:r>
                        <a:t>MERGE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E293B"/>
                          </a:solidFill>
                        </a:defRPr>
                      </a:pPr>
                      <a:r>
                        <a:t>Änderungen am Kind werden beim merge(parent) übernommen.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E293B"/>
                          </a:solidFill>
                        </a:defRPr>
                      </a:pPr>
                      <a:r>
                        <a:t>Web-Anwendungen mit Detached Objekten.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1E293B"/>
                          </a:solidFill>
                        </a:defRPr>
                      </a:pPr>
                      <a:r>
                        <a:t>REMOVE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E293B"/>
                          </a:solidFill>
                        </a:defRPr>
                      </a:pPr>
                      <a:r>
                        <a:t>Wird beim remove(parent) mitgelöscht.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E293B"/>
                          </a:solidFill>
                        </a:defRPr>
                      </a:pPr>
                      <a:r>
                        <a:t>Strikte Eltern-Kind-Beziehung. WARNUNG: Niemals bei ManyToMany!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1E293B"/>
                          </a:solidFill>
                        </a:defRPr>
                      </a:pPr>
                      <a:r>
                        <a:t>REFRESH / DETACH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E293B"/>
                          </a:solidFill>
                        </a:defRPr>
                      </a:pPr>
                      <a:r>
                        <a:t>Reicht refresh() bzw. detach() an abhängige Kind-Objekte weiter.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E293B"/>
                          </a:solidFill>
                        </a:defRPr>
                      </a:pPr>
                      <a:r>
                        <a:t>Manuelle Cache-Verwaltung und externe DB-Updates.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1E293B"/>
                          </a:solidFill>
                        </a:defRPr>
                      </a:pPr>
                      <a:r>
                        <a:t>ALL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E293B"/>
                          </a:solidFill>
                        </a:defRPr>
                      </a:pPr>
                      <a:r>
                        <a:t>Beinhaltet alle Kaskadierungen inklusive REMOVE.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E293B"/>
                          </a:solidFill>
                        </a:defRPr>
                      </a:pPr>
                      <a:r>
                        <a:t>Nur bei exklusiver Eigentümerschaft (Composition).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731520" y="5486400"/>
            <a:ext cx="1072865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200">
                <a:solidFill>
                  <a:srgbClr val="DC2626"/>
                </a:solidFill>
              </a:defRPr>
            </a:pPr>
            <a:r>
              <a:t>Achtung: CascadeType.ALL auf @ManyToMany führt dazu, dass beim Löschen eines Datensatzes verknüpfte Stammdaten (z.B. Fahrer, Kategorien) gelöscht werden!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31520" y="365760"/>
            <a:ext cx="10728655" cy="54864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75488"/>
            <a:ext cx="10728655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2563EB"/>
                </a:solidFill>
                <a:latin typeface="Segoe UI"/>
              </a:defRPr>
            </a:pPr>
            <a:r>
              <a:t>REFERENZ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49808"/>
            <a:ext cx="1072865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1E293B"/>
                </a:solidFill>
                <a:latin typeface="Segoe UI"/>
              </a:defRPr>
            </a:pPr>
            <a:r>
              <a:t>3.2 Entity Lifecycle Callbacks &amp; Listener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731520" y="1463040"/>
          <a:ext cx="10728655" cy="4114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03120"/>
                <a:gridCol w="3383280"/>
                <a:gridCol w="5242255"/>
              </a:tblGrid>
              <a:tr h="514350">
                <a:tc>
                  <a:txBody>
                    <a:bodyPr/>
                    <a:lstStyle/>
                    <a:p>
                      <a:pPr>
                        <a:defRPr b="1" sz="1200">
                          <a:solidFill>
                            <a:srgbClr val="FFFFFF"/>
                          </a:solidFill>
                        </a:defRPr>
                      </a:pPr>
                      <a:r>
                        <a:t>Annotation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200">
                          <a:solidFill>
                            <a:srgbClr val="FFFFFF"/>
                          </a:solidFill>
                        </a:defRPr>
                      </a:pPr>
                      <a:r>
                        <a:t>Ausführungszeitpunkt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200">
                          <a:solidFill>
                            <a:srgbClr val="FFFFFF"/>
                          </a:solidFill>
                        </a:defRPr>
                      </a:pPr>
                      <a:r>
                        <a:t>Praxiseinsatz / Anwendungsfall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</a:tr>
              <a:tr h="514350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2563EB"/>
                          </a:solidFill>
                        </a:defRPr>
                      </a:pPr>
                      <a:r>
                        <a:t>@PrePersist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E293B"/>
                          </a:solidFill>
                        </a:defRPr>
                      </a:pPr>
                      <a:r>
                        <a:t>Vor dem ersten INSERT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E293B"/>
                          </a:solidFill>
                        </a:defRPr>
                      </a:pPr>
                      <a:r>
                        <a:t>Setzen von createdAt = Instant.now(), Default-Werten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</a:tr>
              <a:tr h="514350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2563EB"/>
                          </a:solidFill>
                        </a:defRPr>
                      </a:pPr>
                      <a:r>
                        <a:t>@PostPersist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E293B"/>
                          </a:solidFill>
                        </a:defRPr>
                      </a:pPr>
                      <a:r>
                        <a:t>Nach dem erfolgreichen INSERT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E293B"/>
                          </a:solidFill>
                        </a:defRPr>
                      </a:pPr>
                      <a:r>
                        <a:t>Audit-Logging mit generierter ID, Event-Publishing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14350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2563EB"/>
                          </a:solidFill>
                        </a:defRPr>
                      </a:pPr>
                      <a:r>
                        <a:t>@PreUpdate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E293B"/>
                          </a:solidFill>
                        </a:defRPr>
                      </a:pPr>
                      <a:r>
                        <a:t>Vor dem SQL UPDATE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E293B"/>
                          </a:solidFill>
                        </a:defRPr>
                      </a:pPr>
                      <a:r>
                        <a:t>Aktualisieren von updatedAt = Instant.now()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</a:tr>
              <a:tr h="514350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2563EB"/>
                          </a:solidFill>
                        </a:defRPr>
                      </a:pPr>
                      <a:r>
                        <a:t>@PostUpdate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E293B"/>
                          </a:solidFill>
                        </a:defRPr>
                      </a:pPr>
                      <a:r>
                        <a:t>Nach dem SQL UPDATE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E293B"/>
                          </a:solidFill>
                        </a:defRPr>
                      </a:pPr>
                      <a:r>
                        <a:t>Cache-Invalidierung, Benachrichtigungen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14350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2563EB"/>
                          </a:solidFill>
                        </a:defRPr>
                      </a:pPr>
                      <a:r>
                        <a:t>@PreRemove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E293B"/>
                          </a:solidFill>
                        </a:defRPr>
                      </a:pPr>
                      <a:r>
                        <a:t>Vor dem SQL DELETE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E293B"/>
                          </a:solidFill>
                        </a:defRPr>
                      </a:pPr>
                      <a:r>
                        <a:t>Konsistenzprüfung, Validierung von Abhängigkeiten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</a:tr>
              <a:tr h="514350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2563EB"/>
                          </a:solidFill>
                        </a:defRPr>
                      </a:pPr>
                      <a:r>
                        <a:t>@PostRemove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E293B"/>
                          </a:solidFill>
                        </a:defRPr>
                      </a:pPr>
                      <a:r>
                        <a:t>Nach dem SQL DELETE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E293B"/>
                          </a:solidFill>
                        </a:defRPr>
                      </a:pPr>
                      <a:r>
                        <a:t>Aufräumarbeiten im Dateisystem, Audit-Log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14350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2563EB"/>
                          </a:solidFill>
                        </a:defRPr>
                      </a:pPr>
                      <a:r>
                        <a:t>@PostLoad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E293B"/>
                          </a:solidFill>
                        </a:defRPr>
                      </a:pPr>
                      <a:r>
                        <a:t>Nach dem SELECT aus der DB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E293B"/>
                          </a:solidFill>
                        </a:defRPr>
                      </a:pPr>
                      <a:r>
                        <a:t>Initialisieren transienter (@Transient) Berechnungsfelder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31520" y="365760"/>
            <a:ext cx="10728655" cy="54864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75488"/>
            <a:ext cx="10728655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2563EB"/>
                </a:solidFill>
                <a:latin typeface="Segoe UI"/>
              </a:defRPr>
            </a:pPr>
            <a:r>
              <a:t>ZUSAMMENFASSUNG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49808"/>
            <a:ext cx="1072865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1E293B"/>
                </a:solidFill>
                <a:latin typeface="Segoe UI"/>
              </a:defRPr>
            </a:pPr>
            <a:r>
              <a:t>JPA Best-Practice Checkliste für den Produktiveinsatz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463040"/>
            <a:ext cx="3474720" cy="47548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31520" y="1463040"/>
            <a:ext cx="3474720" cy="54864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1. Mapping &amp; Beziehungen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2194560"/>
            <a:ext cx="310896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200">
                <a:solidFill>
                  <a:srgbClr val="0F172A"/>
                </a:solidFill>
                <a:latin typeface="Segoe UI"/>
              </a:defRPr>
            </a:pPr>
            <a:r>
              <a:t>• Alle @ManyToOne / @OneToOne explizit auf FetchType.LAZY.</a:t>
            </a:r>
          </a:p>
          <a:p>
            <a:pPr>
              <a:spcAft>
                <a:spcPts val="1200"/>
              </a:spcAft>
              <a:defRPr sz="1200">
                <a:solidFill>
                  <a:srgbClr val="0F172A"/>
                </a:solidFill>
                <a:latin typeface="Segoe UI"/>
              </a:defRPr>
            </a:pPr>
            <a:r>
              <a:t>• Defensive Helper-Methoden (add/remove) in Owning Entities.</a:t>
            </a:r>
          </a:p>
          <a:p>
            <a:pPr>
              <a:spcAft>
                <a:spcPts val="1200"/>
              </a:spcAft>
              <a:defRPr sz="1200">
                <a:solidFill>
                  <a:srgbClr val="0F172A"/>
                </a:solidFill>
                <a:latin typeface="Segoe UI"/>
              </a:defRPr>
            </a:pPr>
            <a:r>
              <a:t>• Kein CascadeType.ALL oder REMOVE auf ManyToMany.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43400" y="1463040"/>
            <a:ext cx="3474720" cy="47548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343400" y="1463040"/>
            <a:ext cx="3474720" cy="548640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2. Identity &amp; Concurrency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26280" y="2194560"/>
            <a:ext cx="310896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200">
                <a:solidFill>
                  <a:srgbClr val="0F172A"/>
                </a:solidFill>
                <a:latin typeface="Segoe UI"/>
              </a:defRPr>
            </a:pPr>
            <a:r>
              <a:t>• equals/hashCode mit Business Key oder konstantem Hash.</a:t>
            </a:r>
          </a:p>
          <a:p>
            <a:pPr>
              <a:spcAft>
                <a:spcPts val="1200"/>
              </a:spcAft>
              <a:defRPr sz="1200">
                <a:solidFill>
                  <a:srgbClr val="0F172A"/>
                </a:solidFill>
                <a:latin typeface="Segoe UI"/>
              </a:defRPr>
            </a:pPr>
            <a:r>
              <a:t>• @Version für optimistische Sperren in Concurrency-Szenarien.</a:t>
            </a:r>
          </a:p>
          <a:p>
            <a:pPr>
              <a:spcAft>
                <a:spcPts val="1200"/>
              </a:spcAft>
              <a:defRPr sz="1200">
                <a:solidFill>
                  <a:srgbClr val="0F172A"/>
                </a:solidFill>
                <a:latin typeface="Segoe UI"/>
              </a:defRPr>
            </a:pPr>
            <a:r>
              <a:t>• OptimisticLockException fangen &amp; Transaktion sauber rollbacken.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955280" y="1463040"/>
            <a:ext cx="3474720" cy="47548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955280" y="1463040"/>
            <a:ext cx="3474720" cy="54864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3. Abfragen &amp; Performance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138160" y="2194560"/>
            <a:ext cx="310896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200">
                <a:solidFill>
                  <a:srgbClr val="0F172A"/>
                </a:solidFill>
                <a:latin typeface="Segoe UI"/>
              </a:defRPr>
            </a:pPr>
            <a:r>
              <a:t>• JOIN FETCH gegen N+1 Selects bei Entity-Listen.</a:t>
            </a:r>
          </a:p>
          <a:p>
            <a:pPr>
              <a:spcAft>
                <a:spcPts val="1200"/>
              </a:spcAft>
              <a:defRPr sz="1200">
                <a:solidFill>
                  <a:srgbClr val="0F172A"/>
                </a:solidFill>
                <a:latin typeface="Segoe UI"/>
              </a:defRPr>
            </a:pPr>
            <a:r>
              <a:t>• DTO Constructor Expressions für Lese-Views &amp; APIs.</a:t>
            </a:r>
          </a:p>
          <a:p>
            <a:pPr>
              <a:spcAft>
                <a:spcPts val="1200"/>
              </a:spcAft>
              <a:defRPr sz="1200">
                <a:solidFill>
                  <a:srgbClr val="0F172A"/>
                </a:solidFill>
                <a:latin typeface="Segoe UI"/>
              </a:defRPr>
            </a:pPr>
            <a:r>
              <a:t>• Batch Processing: flush() &amp; clear() alle 50-100 Datensätze.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