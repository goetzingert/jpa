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93C5FD"/>
                </a:solidFill>
                <a:latin typeface="Segoe UI"/>
              </a:defRPr>
            </a:pPr>
            <a:r>
              <a:t>JPA &amp; HIBERNATE SEMINAR</a:t>
            </a:r>
          </a:p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Troubleshooting &amp; Best Practices</a:t>
            </a:r>
          </a:p>
          <a:p>
            <a:pPr>
              <a:spcAft>
                <a:spcPts val="28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Praxis-Leitfaden: Typische Fallstricke, Fehlermuster, Concurrency &amp; Architekturregeln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Enterprise Java Persistence | Jakarta Persistence 3.0 &amp; Hibernate ORM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ÜBERBLICK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Leitfaden-Struktur &amp; Themenübersicht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7472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1. Typische Fehlerbilder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1.1 LazyInitializationException &amp; Proxies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1.2 N+1 Select Problem &amp; JOIN FETCH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1.3 Entity Graphs (fetchgraph / loadgraph)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1.4 OptimisticLockException &amp; @Version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1.5 Pessimistisches Locking &amp; Concurrency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1.6 Transiente &amp; Detached Entity Ausnahmen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1.7 Bean Validation &amp; Constraints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4747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2. Architecture &amp; Best Practices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031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2.1 FetchType-Regeln (LAZY als Default)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2.2 Defensive Assoziations-Synchronisation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2.3 CascadeType &amp; orphanRemoval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2.4 equals() &amp; hashCode() Regeln bei Entities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2.5 Persistence Context &amp; Batch Processing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2.6 Bulk Operations &amp; Cache Invalidation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2.7 DTO-Projektionen &amp; Constructor Expressions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2.8 Composite Keys (@EmbeddedId vs @IdClass)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2.9 AttributeConverter (@Converter)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747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463040"/>
            <a:ext cx="347472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3. Referenz- &amp; Entscheidungstabellen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1031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3.1 CascadeType-Matrix &amp; Orphan Removal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3.2 Entity-Lifecycle Callbacks (@PrePersist etc.)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3.3 Checkliste für den Produktiveinsatz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Segoe UI"/>
              </a:defRPr>
            </a:pPr>
            <a:r>
              <a:t>TROUBLESHOOTING &amp; PROXIES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1.1 LazyInitializationException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DC2626"/>
                </a:solidFill>
              </a:defRPr>
            </a:pPr>
            <a:r>
              <a:t>Symptom &amp; Fehlermeldung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onsolas"/>
              </a:defRPr>
            </a:pPr>
            <a:r>
              <a:t>org.hibernate.LazyInitializationException: could not initialize proxy [net.rentacar.model.Shop#1] - no Session</a:t>
            </a:r>
          </a:p>
          <a:p>
            <a:pPr>
              <a:spcAft>
                <a:spcPts val="400"/>
              </a:spcAft>
              <a:defRPr sz="1300" b="1">
                <a:solidFill>
                  <a:srgbClr val="1E293B"/>
                </a:solidFill>
              </a:defRPr>
            </a:pPr>
            <a:r>
              <a:t>Ursache &amp; Mechanismen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Zugriff auf eine LAZY-Relation bei einer Detached Entity (Session geschlossen / Tx beendet).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Der Bytecode-Proxy kann ohne aktive Datenbankverbindung kein SQL nachladen.</a:t>
            </a:r>
          </a:p>
          <a:p>
            <a:pPr>
              <a:spcAft>
                <a:spcPts val="400"/>
              </a:spcAft>
              <a:defRPr sz="1200" b="1">
                <a:solidFill>
                  <a:srgbClr val="DC2626"/>
                </a:solidFill>
              </a:defRPr>
            </a:pPr>
            <a:r>
              <a:t>Antipatterns (Vermeiden!):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Globales Umstellen auf FetchType.EAGER (verschleppt Performance-Probleme).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Open Session in View (OSIV) im Web/API-Layer (verschleiert unkontrollierte Queries).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D9488"/>
                </a:solidFill>
              </a:defRPr>
            </a:pPr>
            <a:r>
              <a:t>Lösungsstrategien (Best Practice)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1. JPQL JOIN FETCH: Gezieltes Eager-Laden genau für diesen Abfragepfad.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2. JPA Entity Graphs: Deklarative oder dynamische Ladepläne definieren.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3. DTO Constructor Expressions: Flache Datentransfers direkt per JPQL projizieren.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Consolas"/>
              </a:defRPr>
            </a:pPr>
            <a:r>
              <a:t>SELECT s FROM Shop s JOIN FETCH s.vehicles WHERE s.id = :id</a:t>
            </a:r>
            <a:br/>
            <a:br/>
            <a:r>
              <a:t>// DTO Projektion:</a:t>
            </a:r>
            <a:br/>
            <a:r>
              <a:t>SELECT new net.rentacar.dto.ShopDto(s.name, size(s.vehicles)) FROM Shop 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Segoe UI"/>
              </a:defRPr>
            </a:pPr>
            <a:r>
              <a:t>TROUBLESHOOTING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1.2 Das N+1-Select-Problem &amp; JOIN FETCH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C2626"/>
                </a:solidFill>
              </a:defRPr>
            </a:pPr>
            <a:r>
              <a:t>Wie das Problem entsteht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1 initiale Abfrage lädt N Stammsätze (z.B. 50 Standorte):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SELECT * FROM SHOP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Bei Iteration über shop.getVehicles() feuert Hibernate für jeden einzelnen Shop ein separates SELECT: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SELECT * FROM VEHICLE WHERE SHOP_ID = 1</a:t>
            </a:r>
            <a:br/>
            <a:r>
              <a:t>SELECT * FROM VEHICLE WHERE SHOP_ID = 2</a:t>
            </a:r>
            <a:br/>
            <a:r>
              <a:t>... (50x nachgeladen!)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Ergebnis: 1 + N = 51 SQL Queries statt 1 optimierter Query!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D9488"/>
                </a:solidFill>
              </a:defRPr>
            </a:pPr>
            <a:r>
              <a:t>Lösung &amp; Diagnose</a:t>
            </a:r>
          </a:p>
          <a:p>
            <a:pPr>
              <a:defRPr b="1" sz="1200">
                <a:solidFill>
                  <a:srgbClr val="1E293B"/>
                </a:solidFill>
              </a:defRPr>
            </a:pPr>
            <a:r>
              <a:t>1. JOIN FETCH Abfrage (1 einziger SQL-Join)</a:t>
            </a:r>
          </a:p>
          <a:p>
            <a:pPr>
              <a:spcAft>
                <a:spcPts val="800"/>
              </a:spcAft>
              <a:defRPr sz="1050">
                <a:solidFill>
                  <a:srgbClr val="2563EB"/>
                </a:solidFill>
                <a:latin typeface="Consolas"/>
              </a:defRPr>
            </a:pPr>
            <a:r>
              <a:t>SELECT DISTINCT s FROM Shop s</a:t>
            </a:r>
            <a:br/>
            <a:r>
              <a:t>LEFT JOIN FETCH s.vehicles</a:t>
            </a:r>
          </a:p>
          <a:p>
            <a:pPr>
              <a:defRPr b="1" sz="1200">
                <a:solidFill>
                  <a:srgbClr val="1E293B"/>
                </a:solidFill>
              </a:defRPr>
            </a:pPr>
            <a:r>
              <a:t>2. Batch Fetching per @BatchSize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Consolas"/>
              </a:defRPr>
            </a:pPr>
            <a:r>
              <a:t>@OneToMany(mappedBy = "shop")</a:t>
            </a:r>
            <a:br/>
            <a:r>
              <a:t>@BatchSize(size = 25)</a:t>
            </a:r>
            <a:br/>
            <a:r>
              <a:t>private Set&lt;Vehicle&gt; vehicles;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Diagnose: hibernate.show_sql=true und hibernate.generate_statistics=true aktivieren, um Statement-Zähler in Tests zu assertieren.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TROUBLESHOOTING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1.3 JPA Entity Graphs &amp; Dynamisches Fetching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563EB"/>
                </a:solidFill>
              </a:defRPr>
            </a:pPr>
            <a:r>
              <a:t>Warum Entity Graphs statt JOIN FETCH?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Keine Query-Modifikation: JPQL bleibt einfach ('SELECT s FROM Shop s'), der Ladeplan wird dynamisch als Hint übergeben.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Vermeidung des kartesischen Produkts: Mehrere JOIN FETCH auf Collections erzeugen Duplikate und MultipleBagFetchExceptions.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Sauberes Entity-Mapping: Das Basis-Mapping bleibt durchgängig auf FetchType.LAZY.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Zwei Modi als Query-Hint: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 • jakarta.persistence.fetchgraph:</a:t>
            </a:r>
            <a:br/>
            <a:r>
              <a:t>    Alle gelisteten Attribute = EAGER, alle anderen = LAZY (überschreibt statisches Mapping strikt).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 • jakarta.persistence.loadgraph:</a:t>
            </a:r>
            <a:br/>
            <a:r>
              <a:t>    Alle gelisteten Attribute = EAGER, alle anderen behalten ihr Mapping (statisches EAGER bleibt EAGER).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D9488"/>
                </a:solidFill>
              </a:defRPr>
            </a:pPr>
            <a:r>
              <a:t>Programmatische &amp; Deklarative Nutzung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Consolas"/>
              </a:defRPr>
            </a:pPr>
            <a:r>
              <a:t>// 1. Programmatischer EntityGraph</a:t>
            </a:r>
            <a:br/>
            <a:r>
              <a:t>EntityGraph&lt;Shop&gt; graph = em.createEntityGraph(Shop.class);</a:t>
            </a:r>
            <a:br/>
            <a:r>
              <a:t>graph.addAttributeNodes("carpool");</a:t>
            </a:r>
            <a:br/>
            <a:r>
              <a:t>// Optional: Verschachtelter Subgraph</a:t>
            </a:r>
            <a:br/>
            <a:r>
              <a:t>Subgraph&lt;Vehicle&gt; vehGraph = graph.addSubgraph("carpool");</a:t>
            </a:r>
            <a:br/>
            <a:r>
              <a:t>vehGraph.addAttributeNodes("type");</a:t>
            </a:r>
            <a:br/>
            <a:br/>
            <a:r>
              <a:t>List&lt;Shop&gt; shops = em.createQuery(</a:t>
            </a:r>
            <a:br/>
            <a:r>
              <a:t>    "SELECT s FROM Shop s", Shop.class)</a:t>
            </a:r>
            <a:br/>
            <a:r>
              <a:t>    .setHint("jakarta.persistence.fetchgraph", graph)</a:t>
            </a:r>
            <a:br/>
            <a:r>
              <a:t>    .getResultList();</a:t>
            </a:r>
            <a:br/>
            <a:br/>
            <a:r>
              <a:t>// 2. Deklarativ an der Entity (@NamedEntityGraph)</a:t>
            </a:r>
            <a:br/>
            <a:r>
              <a:t>@NamedEntityGraph(</a:t>
            </a:r>
            <a:br/>
            <a:r>
              <a:t>    name = "Shop.withCarpool",</a:t>
            </a:r>
            <a:br/>
            <a:r>
              <a:t>    attributeNodes = @NamedAttributeNode("carpool")</a:t>
            </a:r>
            <a:br/>
            <a:r>
              <a:t>)</a:t>
            </a:r>
            <a:br/>
            <a:r>
              <a:t>@Entity</a:t>
            </a:r>
            <a:br/>
            <a:r>
              <a:t>public class Shop { ...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TROUBLESHOOTING &amp;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1.4 OptimisticLockException &amp; @Version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97706"/>
                </a:solidFill>
              </a:defRPr>
            </a:pPr>
            <a:r>
              <a:t>Lost Updates &amp; Concurrency-Konflikte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Ohne Versionierung überschreibt die zuletzt committende Transaktion alle vorherigen Änderungen unbemerkt (Lost Update).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Lösung mit @Version: Hibernate prüft bei jedem UPDATE die Versionsnummer: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UPDATE VEHICLE SET ..., VERSION = 2 WHERE ID = 1 AND VERSION = 1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Wurde die Zeile zwischenzeitlich verändert, liefert die DB 0 betroffene Zeilen -&gt; Hibernate wirft jakarta.persistence.OptimisticLockException.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Consolas"/>
              </a:defRPr>
            </a:pPr>
            <a:r>
              <a:t>@Entity</a:t>
            </a:r>
            <a:br/>
            <a:r>
              <a:t>public class Vehicle {</a:t>
            </a:r>
            <a:br/>
            <a:r>
              <a:t>    @Id @GeneratedValue private Long id;</a:t>
            </a:r>
            <a:br/>
            <a:r>
              <a:t>    @Version private Long version; // Optimistic Lock</a:t>
            </a:r>
            <a:br/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D9488"/>
                </a:solidFill>
              </a:defRPr>
            </a:pPr>
            <a:r>
              <a:t>Best Practices zur Ausnahmebehandlung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1. Transaktion sofort rollbacken: Nach einer OptimisticLockException ist der Persistence Context ungültig.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2. Retry-Strategie im Service-Layer: Transaktion neu starten, frische Entity aus der DB laden und Änderung erneut anwenden.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3. Konfliktanzeige für Endanwender: Den Benutzer informieren, dass der Datensatz parallel modifiziert wurde.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onsolas"/>
              </a:defRPr>
            </a:pPr>
            <a:r>
              <a:t>try {</a:t>
            </a:r>
            <a:br/>
            <a:r>
              <a:t>    tx.commit();</a:t>
            </a:r>
            <a:br/>
            <a:r>
              <a:t>} catch (RollbackException e) {</a:t>
            </a:r>
            <a:br/>
            <a:r>
              <a:t>    if (e.getCause() instanceof OptimisticLockException) {</a:t>
            </a:r>
            <a:br/>
            <a:r>
              <a:t>        // Rollback ausführen, neu laden &amp; ggf. wiederholen</a:t>
            </a:r>
            <a:br/>
            <a:r>
              <a:t>        tx.rollback();</a:t>
            </a:r>
            <a:br/>
            <a:r>
              <a:t>        throw new ConcurrentModificationException("Datensatz wurde geändert!");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TROUBLESHOOTING &amp;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1.5 Concurrency: Pessimistisches Locking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97706"/>
                </a:solidFill>
              </a:defRPr>
            </a:pPr>
            <a:r>
              <a:t>Wann Optimistic Locking nicht reicht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Hohe Schreibkollisionsrate: Wenn dutzende Benutzer gleichzeitig denselben Datensatz ändern (z.B. Ticketkontingent, Fahrzeugreservierung, Kontostand).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Optimistic Locking führt hier zu ständigen Rollbacks und teuren Retries.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Lösung: Pessimistic Locking (SELECT ... FOR UPDATE). Sperrt die Zeile physisch auf Datenbankebene gegen parallele Modifikationen.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Modi: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 • PESSIMISTIC_WRITE: Exklusiver Schreib-Lock (verhindert Read &amp; Write anderer Locks).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 • PESSIMISTIC_READ: Shared Read-Lock (verhindert gleichzeitige Modifikationen).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D9488"/>
                </a:solidFill>
              </a:defRPr>
            </a:pPr>
            <a:r>
              <a:t>Code-Muster &amp; Lock-Timeouts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Consolas"/>
              </a:defRPr>
            </a:pPr>
            <a:r>
              <a:t>// 1. Beim Laden direkt sperren (SELECT ... FOR UPDATE)</a:t>
            </a:r>
            <a:br/>
            <a:r>
              <a:t>PessimisticVehicle v = em.find(</a:t>
            </a:r>
            <a:br/>
            <a:r>
              <a:t>    PessimisticVehicle.class, 1L,</a:t>
            </a:r>
            <a:br/>
            <a:r>
              <a:t>    LockModeType.PESSIMISTIC_WRITE);</a:t>
            </a:r>
            <a:br/>
            <a:br/>
            <a:r>
              <a:t>// 2. Nachträglich in bestehender Entity sperren</a:t>
            </a:r>
            <a:br/>
            <a:r>
              <a:t>em.lock(v, LockModeType.PESSIMISTIC_WRITE);</a:t>
            </a:r>
            <a:br/>
            <a:br/>
            <a:r>
              <a:t>// 3. Lock-Timeout konfigurieren (z.B. 3 Sekunden)</a:t>
            </a:r>
            <a:br/>
            <a:r>
              <a:t>TypedQuery&lt;PessimisticVehicle&gt; query = em.createQuery(</a:t>
            </a:r>
            <a:br/>
            <a:r>
              <a:t>    "SELECT v FROM PessimisticVehicle v WHERE v.reserved = false",</a:t>
            </a:r>
            <a:br/>
            <a:r>
              <a:t>    PessimisticVehicle.class)</a:t>
            </a:r>
            <a:br/>
            <a:r>
              <a:t>    .setLockMode(LockModeType.PESSIMISTIC_WRITE)</a:t>
            </a:r>
            <a:br/>
            <a:r>
              <a:t>    .setHint("jakarta.persistence.lock.timeout", 3000);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Wichtig: Transaktionen mit pessimistischen Locks extrem kurz halten, um Deadlocks zu vermeiden!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Segoe UI"/>
              </a:defRPr>
            </a:pPr>
            <a:r>
              <a:t>TROUBLESHOOTING &amp;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1.6 Transiente &amp; Detached Entity Ausnahmen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DC2626"/>
                </a:solidFill>
              </a:defRPr>
            </a:pPr>
            <a:r>
              <a:t>TransientPropertyValueException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Consolas"/>
              </a:defRPr>
            </a:pPr>
            <a:r>
              <a:t>IllegalStateException: Not-null property references a transient value - transient instance must be saved before current operation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Ursache: Eine gemanagte Entity verweist auf ein neu erzeugtes (transientes) Objekt, ohne dass CascadeType.PERSIST oder CascadeType.ALL aktiv ist.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Lösung: Kindobjekt explizit mit em.persist() speichern oder Kaskadierung konfigurieren.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D9488"/>
                </a:solidFill>
              </a:defRPr>
            </a:pPr>
            <a:r>
              <a:t>Detached Entity passed to persist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Consolas"/>
              </a:defRPr>
            </a:pPr>
            <a:r>
              <a:t>PersistenceException: detached entity passed to persist: net.rentacar.model.Vehicle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Ursache: Aufruf von em.persist(entity) auf einem Objekt, das bereits eine ID besitzt und aus einer früheren Session stammt.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Lösung: Verwende em.merge(detachedEntity). Wichtig: merge() modifiziert nicht die übergebene Instanz, sondern liefert eine NEUE gemanagte Referenz zurück: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Vehicle managed = em.merge(detachedVehicle);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Segoe UI"/>
              </a:defRPr>
            </a:pPr>
            <a:r>
              <a:t>TROUBLESHOOTING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1.7 Bean Validation &amp; Constraints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DC2626"/>
                </a:solidFill>
              </a:defRPr>
            </a:pPr>
            <a:r>
              <a:t>ConstraintViolationException beim Flush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onsolas"/>
              </a:defRPr>
            </a:pPr>
            <a:r>
              <a:t>jakarta.validation.ConstraintViolationException: Validation failed for [net.rentacar.model.User]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Zeitpunkt: JPA führt Bean Validation (@NotNull, @Size, @Pattern) standardmäßig automatisch beim PrePersist und PreUpdate (vor dem SQL Flush) aus.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Gefahr: Fehler treten erst beim commit() oder manuellen flush() auf, weit entfernt von der setXxx()-Zuweisung!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D9488"/>
                </a:solidFill>
              </a:defRPr>
            </a:pPr>
            <a:r>
              <a:t>Best Practices &amp; Details auslesen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onsolas"/>
              </a:defRPr>
            </a:pPr>
            <a:r>
              <a:t>try {</a:t>
            </a:r>
            <a:br/>
            <a:r>
              <a:t>    em.flush();</a:t>
            </a:r>
            <a:br/>
            <a:r>
              <a:t>} catch (ConstraintViolationException e) {</a:t>
            </a:r>
            <a:br/>
            <a:r>
              <a:t>    for (ConstraintViolation&lt;?&gt; v : e.getConstraintViolations()) {</a:t>
            </a:r>
            <a:br/>
            <a:r>
              <a:t>        log.error("Feld '{}' {}: {}", </a:t>
            </a:r>
            <a:br/>
            <a:r>
              <a:t>            v.getPropertyPath(), v.getMessage(), v.getInvalidValue());</a:t>
            </a:r>
            <a:br/>
            <a:r>
              <a:t>    }</a:t>
            </a:r>
            <a:br/>
            <a:r>
              <a:t>}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Tipp: Validierungs-Annotationen steuern bei DDL-Generierung auch das DB-Schema (@NotNull -&gt; NOT NULL Spalte).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TROUBLESHOOTING &amp;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1.8 @MappedSuperclass vs. Entity Vererbung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563EB"/>
                </a:solidFill>
              </a:defRPr>
            </a:pPr>
            <a:r>
              <a:t>@MappedSuperclass (Technische Basisklasse)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Keine eigene Tabelle in der Datenbank.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Vererbt Attribute (z.B. @Id, @Version, createdAt, createdBy) an konkrete Unterklassen.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Nicht polymorph abfragbar: 'SELECT b FROM BaseEntity b' ist UNZULÄSSIG!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Ideal für Domain-Driven Design Basistypen und Audit-Felder.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Consolas"/>
              </a:defRPr>
            </a:pPr>
            <a:r>
              <a:t>@MappedSuperclass</a:t>
            </a:r>
            <a:br/>
            <a:r>
              <a:t>public abstract class AbstractEntity {</a:t>
            </a:r>
            <a:br/>
            <a:r>
              <a:t>    @Id @GeneratedValue private Long id;</a:t>
            </a:r>
            <a:br/>
            <a:r>
              <a:t>    @Version private Long version;</a:t>
            </a:r>
            <a:br/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D9488"/>
                </a:solidFill>
              </a:defRPr>
            </a:pPr>
            <a:r>
              <a:t>@Inheritance (Fachliche Vererbung)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Basisklasse ist eine echte @Entity mit Tabellenrepräsentation.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Polymorphe Abfragen sind möglich: 'SELECT v FROM VehicleType v' liefert alle Pkw, Lkw und Motorräder.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Strategien: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  • SINGLE_TABLE: 1 Tabelle mit @DiscriminatorColumn (schnell, Nullable Spalten).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  • JOINED: Normalisierte Tabellen je Subklasse (Constraint-sicher, Joins nötig).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ARCHITEKTUR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2.1 FetchType &amp; Assoziations-Strategie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C2626"/>
                </a:solidFill>
              </a:defRPr>
            </a:pPr>
            <a:r>
              <a:t>Die JPA Default-Falle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JPA Standard-Defaults: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  • @OneToOne -&gt; FetchType.EAGER (Gefährlich!)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  • @ManyToOne -&gt; FetchType.EAGER (Gefährlich!)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  • @OneToMany -&gt; FetchType.LAZY (Korrekt)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  • @ManyToMany -&gt; FetchType.LAZY (Korrekt)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Problem: EAGER auf To-One führt zu automatischen SQL-Joins bei JEDEM find() oder SELECT, selbst wenn die Relation gar nicht benötigt wird.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D9488"/>
                </a:solidFill>
              </a:defRPr>
            </a:pPr>
            <a:r>
              <a:t>Die goldene Regel: Alles auf LAZY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Stelle ausnahmslos ALLE @ManyToOne und @OneToOne Relationen explizit auf FetchType.LAZY um!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Lade benötigte Daten gezielt pro Use-Case über JOIN FETCH oder Entity Graphs nach.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@ManyToOne(fetch = FetchType.LAZY, optional = false)</a:t>
            </a:r>
            <a:br/>
            <a:r>
              <a:t>@JoinColumn(name = "SHOP_ID")</a:t>
            </a:r>
            <a:br/>
            <a:r>
              <a:t>private Shop shop; // Vorbildlich!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ARCHITEKTUR &amp;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2.2 Defensive Assoziations-Synchronisation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28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563EB"/>
                </a:solidFill>
              </a:defRPr>
            </a:pPr>
            <a:r>
              <a:t>Bidirektionale Beziehungen konsistent im Speicher halten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JPA persistiert nur die 'Owning Side' (die Seite mit @JoinColumn). Die inverse Seite (mappedBy) wird für SQL ignoriert.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Wird nur eine Seite im Java-Speicher gepflegt, ist der Objektgraph im selben Persistence Context inkonsistent!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Best Practice: Schreibe defensive Hilfsmethoden in der Parent-Entity, die beide Seiten atomar synchronisieren.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public void addVehicle(Vehicle vehicle) {</a:t>
            </a:r>
            <a:br/>
            <a:r>
              <a:t>    this.carpool.add(vehicle);</a:t>
            </a:r>
            <a:br/>
            <a:r>
              <a:t>    vehicle.setShop(this); // Beide Seiten synchron halten!</a:t>
            </a:r>
            <a:br/>
            <a:r>
              <a:t>}</a:t>
            </a:r>
            <a:br/>
            <a:br/>
            <a:r>
              <a:t>public void removeVehicle(Vehicle vehicle) {</a:t>
            </a:r>
            <a:br/>
            <a:r>
              <a:t>    this.carpool.remove(vehicle);</a:t>
            </a:r>
            <a:br/>
            <a:r>
              <a:t>    vehicle.setShop(null); // Fremdschlüssel aufheben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ARCHITEKTUR &amp;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2.3 CascadeType &amp; orphanRemoval in der Praxis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D9488"/>
                </a:solidFill>
              </a:defRPr>
            </a:pPr>
            <a:r>
              <a:t>orphanRemoval vs. CascadeType.REMOVE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CascadeType.REMOVE: Löscht Kind-Datensätze nur dann, wenn das übergeordnete Elternobjekt mit em.remove(parent) gelöscht wird.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orphanRemoval = true: Löscht ein Kindobjekt zusätzlich per SQL DELETE, wenn es aus der Java-Collection des Elternobjekts entfernt wird!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Echter Parent-Child Lifecycle (Aggregat): Kindobjekte haben keine eigenständige Existenzberechtigung (z.B. RentalContract -&gt; DamageRecords).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Achtung: Niemals orphanRemoval auf @ManyToMany oder geteilten Stammdaten setzen!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293B"/>
                </a:solidFill>
              </a:defRPr>
            </a:pPr>
            <a:r>
              <a:t>Code-Beispiel: Sauberes Aggregat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onsolas"/>
              </a:defRPr>
            </a:pPr>
            <a:r>
              <a:t>@Entity</a:t>
            </a:r>
            <a:br/>
            <a:r>
              <a:t>public class RentalContract {</a:t>
            </a:r>
            <a:br/>
            <a:r>
              <a:t>    @OneToMany(mappedBy = "contract",</a:t>
            </a:r>
            <a:br/>
            <a:r>
              <a:t>               cascade = CascadeType.ALL,</a:t>
            </a:r>
            <a:br/>
            <a:r>
              <a:t>               orphanRemoval = true)</a:t>
            </a:r>
            <a:br/>
            <a:r>
              <a:t>    private List&lt;DamageRecord&gt; damages = new ArrayList&lt;&gt;();</a:t>
            </a:r>
            <a:br/>
            <a:br/>
            <a:r>
              <a:t>    public void removeDamage(DamageRecord damage) {</a:t>
            </a:r>
            <a:br/>
            <a:r>
              <a:t>        damages.remove(damage);</a:t>
            </a:r>
            <a:br/>
            <a:r>
              <a:t>        damage.setContract(null); // Führt zum SQL DELETE!</a:t>
            </a:r>
            <a:br/>
            <a:r>
              <a:t>    }</a:t>
            </a:r>
            <a:br/>
            <a:r>
              <a:t>}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Testbar: contract.removeDamage(d) -&gt; em.flush() -&gt; SELECT COUNT(*) FROM DAMAGERECORD liefert 0!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ARCHITEKTUR &amp; IDENTITÄT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2.4 Entity Identity: equals() &amp; hashCode()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C2626"/>
                </a:solidFill>
              </a:defRPr>
            </a:pPr>
            <a:r>
              <a:t>Das HashSet / Set-Problem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Vor dem Persistieren ist id == null -&gt; hashCode() = 0.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Nach em.persist() wird eine ID generiert -&gt; hashCode() ändert sich!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Wurde die Entity zuvor in ein HashSet eingefügt, wird sie im Set nie wieder gefunden (Memory Leak / HashSet Invarianz gebrochen)!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D9488"/>
                </a:solidFill>
              </a:defRPr>
            </a:pPr>
            <a:r>
              <a:t>Die Best-Practice Implementierung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Consolas"/>
              </a:defRPr>
            </a:pPr>
            <a:r>
              <a:t>@Override</a:t>
            </a:r>
            <a:br/>
            <a:r>
              <a:t>public boolean equals(Object o) {</a:t>
            </a:r>
            <a:br/>
            <a:r>
              <a:t>    if (this == o) return true;</a:t>
            </a:r>
            <a:br/>
            <a:r>
              <a:t>    if (o == null || getClass() != o.getClass()) return false;</a:t>
            </a:r>
            <a:br/>
            <a:r>
              <a:t>    Vehicle that = (Vehicle) o;</a:t>
            </a:r>
            <a:br/>
            <a:r>
              <a:t>    // ID-Vergleich nur wenn beide IDs nicht null sind</a:t>
            </a:r>
            <a:br/>
            <a:r>
              <a:t>    return id != null &amp;&amp; Objects.equals(id, that.id);</a:t>
            </a:r>
            <a:br/>
            <a:r>
              <a:t>}</a:t>
            </a:r>
            <a:br/>
            <a:br/>
            <a:r>
              <a:t>@Override</a:t>
            </a:r>
            <a:br/>
            <a:r>
              <a:t>public int hashCode() {</a:t>
            </a:r>
            <a:br/>
            <a:r>
              <a:t>    // Fester Hashcode für alle Instanzen dieser Klasse!</a:t>
            </a:r>
            <a:br/>
            <a:r>
              <a:t>    return getClass().hashCode();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ARCHITEKTUR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2.5 Persistence Context &amp; Batch 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28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563EB"/>
                </a:solidFill>
              </a:defRPr>
            </a:pPr>
            <a:r>
              <a:t>Speicherbereinigung bei Massendaten-Verarbeitung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Jede geladene oder persistierte Entity verbleibt dauerhaft im 1st-Level-Cache (EntityManager).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Beim Import von 100.000 Datensätzen führt dies zwangsläufig zu einem OutOfMemoryError.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Lösung: Regelmäßiges Spülen (flush()) und Entleeren (clear()) des Caches in Batches (z.B. alle 50-100 Einträge).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for (int i = 0; i &lt; vehicles.size(); i++) {</a:t>
            </a:r>
            <a:br/>
            <a:r>
              <a:t>    em.persist(vehicles.get(i));</a:t>
            </a:r>
            <a:br/>
            <a:r>
              <a:t>    if (i &gt; 0 &amp;&amp; i % 50 == 0) {</a:t>
            </a:r>
            <a:br/>
            <a:r>
              <a:t>        em.flush(); // Schreibt anstehende INSERTs in die DB</a:t>
            </a:r>
            <a:br/>
            <a:r>
              <a:t>        em.clear(); // Leert den 1st-Level-Cache vollständig!</a:t>
            </a:r>
            <a:br/>
            <a:r>
              <a:t>    }</a:t>
            </a:r>
            <a:br/>
            <a:r>
              <a:t>}</a:t>
            </a:r>
            <a:br/>
            <a:r>
              <a:t>tx.commit();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ARCHITEKTUR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2.6 Bulk Operations (executeUpdate) &amp; 1st-Level Cache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C2626"/>
                </a:solidFill>
              </a:defRPr>
            </a:pPr>
            <a:r>
              <a:t>Die Stale-State-Falle bei Massenupdates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JPQL UPDATE und DELETE (query.executeUpdate()) werden direkt als SQL an die Datenbank gesendet.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Wichtig: Der Persistence Context (1st-Level-Cache) weiß nichts von dieser Massenänderung!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Bereits zuvor geladene Managed Entities behalten ihren alten Speicherstand (Stale Data).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Gefahr: Folgezugriffe arbeiten auf veralteten Objekten oder überschreiben den DB-Stand beim nächsten Flush!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D9488"/>
                </a:solidFill>
              </a:defRPr>
            </a:pPr>
            <a:r>
              <a:t>Das 3-Schritt-Muster (Flush -&gt; Execute -&gt; Clear)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onsolas"/>
              </a:defRPr>
            </a:pPr>
            <a:r>
              <a:t>// 1. Ungespeicherte Änderungen in die DB flushen</a:t>
            </a:r>
            <a:br/>
            <a:r>
              <a:t>em.flush();</a:t>
            </a:r>
            <a:br/>
            <a:br/>
            <a:r>
              <a:t>// 2. Massen-Update direkt auf DB ausführen</a:t>
            </a:r>
            <a:br/>
            <a:r>
              <a:t>int updated = em.createQuery(</a:t>
            </a:r>
            <a:br/>
            <a:r>
              <a:t>    "UPDATE BulkVehicle v SET v.dailyRate = v.dailyRate * 1.1 " +</a:t>
            </a:r>
            <a:br/>
            <a:r>
              <a:t>    "WHERE v.active = true")</a:t>
            </a:r>
            <a:br/>
            <a:r>
              <a:t>    .executeUpdate();</a:t>
            </a:r>
            <a:br/>
            <a:br/>
            <a:r>
              <a:t>// 3. Cache leeren, damit Entities frisch geladen werden!</a:t>
            </a:r>
            <a:br/>
            <a:r>
              <a:t>em.clear(); // oder gezielt em.refresh(entity);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Regel: Nach executeUpdate() immer em.clear() aufrufen, bevor weiter mit Entities gearbeitet wird.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ARCHITEKTUR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2.7 DTO-Projektionen (Constructor Expressions)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28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563EB"/>
                </a:solidFill>
              </a:defRPr>
            </a:pPr>
            <a:r>
              <a:t>Reine Lese-Views ohne Entity-Overhead projizieren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Für REST-APIs, Tabellenansichten und Reports müssen selten vollständige Managed Entities geladen werden.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Constructor Expressions (SELECT new ...) instanziieren schlanke, unveränderliche Java-Records oder DTOs direkt im SELECT.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Kein Dirty Checking Overhead, kein First-Level-Cache, keine LazyInitializationException im Web-Layer!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// DTO Definition (z.B. Java Record):</a:t>
            </a:r>
            <a:br/>
            <a:r>
              <a:t>public record VehicleSummaryDto(String brand, String model, double dailyRate) {}</a:t>
            </a:r>
            <a:br/>
            <a:br/>
            <a:r>
              <a:t>// JPQL Query mit vollqualifiziertem Klassennamen:</a:t>
            </a:r>
            <a:br/>
            <a:r>
              <a:t>List&lt;VehicleSummaryDto&gt; dtos = em.createQuery(</a:t>
            </a:r>
            <a:br/>
            <a:r>
              <a:t>    "SELECT new net.rentacar.dto.VehicleSummaryDto(v.brand, v.modell, v.dailyRate) " +</a:t>
            </a:r>
            <a:br/>
            <a:r>
              <a:t>    "FROM Vehicle v WHERE v.active = true", VehicleSummaryDto.class)</a:t>
            </a:r>
            <a:br/>
            <a:r>
              <a:t>    .getResultList();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ARCHITEKTUR &amp; SCHLÜSSEL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2.8 Composite Keys: @EmbeddedId vs. @IdClass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D9488"/>
                </a:solidFill>
              </a:defRPr>
            </a:pPr>
            <a:r>
              <a:t>@EmbeddedId (Empfohlener Standard)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Kompaktes Schlüsselobjekt mit @Embeddable, Serializable und equals/hashCode.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Klare Objektorientierung: Entity hat genau 1 ID-Attribut: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  @EmbeddedId private BookingId id;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Einfaches und typsicheres Finden: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  em.find(Booking.class, new BookingId('R-01', 'BER'));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Wartungsfreundlich und robust bei Refactorings.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293B"/>
                </a:solidFill>
              </a:defRPr>
            </a:pPr>
            <a:r>
              <a:t>@IdClass (Historische Alternative)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Die Schlüsselattribute werden flach in der Entity wiederholt: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  @Id private String contractNumber;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  @Id private String branchCode;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Zusätzlich separate IdClass mit identischen Attributnamen nötig.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Nachteile: Redundanz, flaches Modell, unübersichtlich bei Beziehungen.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Fazit: In modernen Projekten immer @EmbeddedId bevorzugen!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ARCHITEKTUR &amp;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2.9 Custom Type Mapping mit AttributeConverter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C2626"/>
                </a:solidFill>
              </a:defRPr>
            </a:pPr>
            <a:r>
              <a:t>Die Risiken klassischer Enum-Mappings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@Enumerated(EnumType.ORDINAL): Speichert 0, 1, 2... Ein Umsortieren der Enum-Konstanten führt zu unbemerkter, massiver Datenkorruption!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@Enumerated(EnumType.STRING): Speichert 'ELECTRIC', 'PETROL'... Braucht viel DB-Speicherplatz und bricht bei Java-Umbenennungen.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Lösung: JPA AttributeConverter (JPA 2.1+).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D9488"/>
                </a:solidFill>
              </a:defRPr>
            </a:pPr>
            <a:r>
              <a:t>Implementierung mit @Converter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Consolas"/>
              </a:defRPr>
            </a:pPr>
            <a:r>
              <a:t>@Converter(autoApply = true)</a:t>
            </a:r>
            <a:br/>
            <a:r>
              <a:t>public class FuelTypeConverter </a:t>
            </a:r>
            <a:br/>
            <a:r>
              <a:t>    implements AttributeConverter&lt;FuelType, String&gt; {</a:t>
            </a:r>
            <a:br/>
            <a:br/>
            <a:r>
              <a:t>    public String convertToDatabaseColumn(FuelType type) {</a:t>
            </a:r>
            <a:br/>
            <a:r>
              <a:t>        return type != null ? type.getCode() : null; // z.B. "E", "D"</a:t>
            </a:r>
            <a:br/>
            <a:r>
              <a:t>    }</a:t>
            </a:r>
            <a:br/>
            <a:br/>
            <a:r>
              <a:t>    public FuelType convertToEntityAttribute(String code) {</a:t>
            </a:r>
            <a:br/>
            <a:r>
              <a:t>        return FuelType.fromCode(code);</a:t>
            </a:r>
            <a:br/>
            <a:r>
              <a:t>    }</a:t>
            </a:r>
            <a:br/>
            <a:r>
              <a:t>}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Vorteil: DB speichert kompakte Einzelzeichen, Java nutzt typsicheres Enum. autoApply = true bindet den Konverter global!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REFERENZ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3.1 CascadeType Referenztabelle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011680"/>
                <a:gridCol w="3291840"/>
                <a:gridCol w="3322015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CascadeType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JPA Operation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Wirkung auf Kind-Entities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Empfohlener Einsatz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PERSIST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em.persist()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Transiente Kinder werden automatisch persistiert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1:1, 1:N Aggregate (z.B. Rechnung -&gt; Posten)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MERGE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em.merge()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Detached Kinder werden mit aktualisiert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Web-Formulare mit verschachtelten Daten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REMOVE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em.remove()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Löscht alle Kinder beim Löschen des Parents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Strikte 1:1 und echte Parent-Child Aggregate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REFRESH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em.refresh()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Lädt Kind-Zustand aus DB neu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Selten; bei extern geänderten DB-Triggern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DETACH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em.detach()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Entfernt auch Kinder aus dem Cache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Manuelle Session-Bereinigung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486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DC2626"/>
                </a:solidFill>
              </a:defRPr>
            </a:pPr>
            <a:r>
              <a:t>Achtung: CascadeType.ALL oder REMOVE auf @ManyToMany führt dazu, dass beim Löschen eines Datensatzes verknüpfte Stammdaten (z.B. Fahrer, Kategorien) gelöscht werden!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REFERENZ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3.2 Entity Lifecycle Callbacks &amp; Listener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383280"/>
                <a:gridCol w="5242255"/>
              </a:tblGrid>
              <a:tr h="51435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Annotation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Ausführungszeitpunkt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Praxiseinsatz / Anwendungsfall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@PrePersist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Vor dem ersten INSERT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Setzen von createdAt = Instant.now(), Default-Werten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@PostPersist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Nach dem erfolgreichen INSERT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Audit-Logging mit generierter ID, Event-Publishing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@PreUpdate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Vor dem SQL UPDATE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Aktualisieren von updatedAt = Instant.now()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@PostUpdate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Nach dem SQL 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Cache-Invalidierung, Benachrichtigungen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@PreRemove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Vor dem SQL DELETE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Konsistenzprüfung, Validierung von Abhängigkeiten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@PostRemove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Nach dem SQL 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Aufräumarbeiten im Dateisystem, Audit-Log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@PostLoad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Nach dem SELECT aus der DB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Initialisieren transienter (@Transient) Berechnungsfelder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ZUSAMMENFASSUNG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JPA Best-Practice Checkliste für den Produktiveinsatz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747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Mapping &amp; Beziehungen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Alle @ManyToOne / @OneToOne explizit auf LAZY.</a:t>
            </a:r>
          </a:p>
          <a:p>
            <a:pPr>
              <a:spcAft>
                <a:spcPts val="10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Defensive Helper-Methoden (add/remove) in Owning Entities.</a:t>
            </a:r>
          </a:p>
          <a:p>
            <a:pPr>
              <a:spcAft>
                <a:spcPts val="10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orphanRemoval=true nur für echte Eltern-Kind-Aggregate.</a:t>
            </a:r>
          </a:p>
          <a:p>
            <a:pPr>
              <a:spcAft>
                <a:spcPts val="10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Kein CascadeType.ALL oder REMOVE auf ManyToMany.</a:t>
            </a:r>
          </a:p>
          <a:p>
            <a:pPr>
              <a:spcAft>
                <a:spcPts val="10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AttributeConverter für saubere Enums &amp; Custom Types.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47472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Identity &amp; Concurrency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031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equals/hashCode mit Business Key oder konstantem Hash.</a:t>
            </a:r>
          </a:p>
          <a:p>
            <a:pPr>
              <a:spcAft>
                <a:spcPts val="10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@Version für optimistische Sperren in Concurrency-Szenarien.</a:t>
            </a:r>
          </a:p>
          <a:p>
            <a:pPr>
              <a:spcAft>
                <a:spcPts val="10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Pessimistic Locking (SELECT FOR UPDATE) für Hotspots.</a:t>
            </a:r>
          </a:p>
          <a:p>
            <a:pPr>
              <a:spcAft>
                <a:spcPts val="10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@EmbeddedId als Standard für zusammengesetzte Schlüssel.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747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463040"/>
            <a:ext cx="347472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Abfragen &amp;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1031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JOIN FETCH oder Entity Graphs gegen N+1 Selects.</a:t>
            </a:r>
          </a:p>
          <a:p>
            <a:pPr>
              <a:spcAft>
                <a:spcPts val="10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DTO Constructor Expressions für Lese-Views &amp; APIs.</a:t>
            </a:r>
          </a:p>
          <a:p>
            <a:pPr>
              <a:spcAft>
                <a:spcPts val="10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Batch Processing: flush() &amp; clear() alle 50-100 Datensätze.</a:t>
            </a:r>
          </a:p>
          <a:p>
            <a:pPr>
              <a:spcAft>
                <a:spcPts val="10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Nach executeUpdate() immer em.clear() aufrufen!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