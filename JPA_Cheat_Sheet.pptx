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601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A5B4FC"/>
                </a:solidFill>
                <a:latin typeface="Segoe UI"/>
              </a:defRPr>
            </a:pPr>
            <a:r>
              <a:t>JPA 3.0 &amp; HIBERNATE 6 CHEAT SHEET</a:t>
            </a:r>
          </a:p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  <a:latin typeface="Segoe UI"/>
              </a:defRPr>
            </a:pPr>
            <a:r>
              <a:t>Enterprise Java Persistence</a:t>
            </a:r>
          </a:p>
          <a:p>
            <a:pPr>
              <a:spcAft>
                <a:spcPts val="2800"/>
              </a:spcAft>
              <a:defRPr sz="1800">
                <a:solidFill>
                  <a:srgbClr val="CBD5E1"/>
                </a:solidFill>
                <a:latin typeface="Segoe UI"/>
              </a:defRPr>
            </a:pPr>
            <a:r>
              <a:t>Kompaktreferenz: Mappings, Entity Graphs, Bulk Operations, Locking, Performance &amp; Best Practices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Jakarta Persistence 3.0 | Hibernate ORM 6.6 | Derby / RDBMS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Segoe UI"/>
              </a:defRPr>
            </a:pPr>
            <a:r>
              <a:t>01. ENTITY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Entity Lifecycle &amp; Zustandsmodell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606040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26060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08760"/>
            <a:ext cx="23317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D97706"/>
                </a:solidFill>
                <a:latin typeface="Segoe UI"/>
              </a:defRPr>
            </a:pPr>
            <a:r>
              <a:t>NEW / TRANSIENT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Mit new erzeugt. Keine DB-ID, dem Persistence Context vollkommen unbekannt.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371600"/>
            <a:ext cx="2606040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0" y="1371600"/>
            <a:ext cx="260604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508760"/>
            <a:ext cx="23317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D9488"/>
                </a:solidFill>
                <a:latin typeface="Segoe UI"/>
              </a:defRPr>
            </a:pPr>
            <a:r>
              <a:t>MANAGED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Im Persistence Context registriert. Dirty Checking persistiert Änderungen automatisch.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371600"/>
            <a:ext cx="2606040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371600"/>
            <a:ext cx="260604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508760"/>
            <a:ext cx="23317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DETACHED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Besitzt DB-ID, aber nicht mehr im Persistence Context (nach close, clear oder Tx-Ende).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371600"/>
            <a:ext cx="2606040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23960" y="1371600"/>
            <a:ext cx="2606040" cy="73152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1508760"/>
            <a:ext cx="23317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9333EA"/>
                </a:solidFill>
                <a:latin typeface="Segoe UI"/>
              </a:defRPr>
            </a:pPr>
            <a:r>
              <a:t>REMOVED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Mit em.remove() zum Löschen vorgemerkt. Wird beim nächsten flush/commit gelöscht.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474720"/>
            <a:ext cx="10728655" cy="29260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566160"/>
            <a:ext cx="10454335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4F46E5"/>
                </a:solidFill>
                <a:latin typeface="Segoe UI"/>
              </a:defRPr>
            </a:pPr>
            <a:r>
              <a:t>KERNOPERATIONEN DES ENTITYMANAGERS</a:t>
            </a:r>
          </a:p>
          <a:p>
            <a:pPr>
              <a:defRPr sz="1050">
                <a:solidFill>
                  <a:srgbClr val="1E293B"/>
                </a:solidFill>
                <a:latin typeface="Consolas"/>
              </a:defRPr>
            </a:pPr>
            <a:r>
              <a:t>em.persist(vehicle);         // Transient -&gt; Managed (Insert bei Commit/Flush)</a:t>
            </a:r>
            <a:br/>
            <a:r>
              <a:t>Vehicle v = em.find(Vehicle.class, 1L); // DB -&gt; Managed</a:t>
            </a:r>
            <a:br/>
            <a:r>
              <a:t>Vehicle managed = em.merge(detachedV);  // Detached -&gt; liefert NEUE gemanagte Instanz!</a:t>
            </a:r>
            <a:br/>
            <a:r>
              <a:t>em.remove(managed);          // Managed -&gt; Removed (Delete bei Commit/Flush)</a:t>
            </a:r>
            <a:br/>
            <a:r>
              <a:t>em.flush();                  // Schreibt anstehende SQL-Änderungen in die DB</a:t>
            </a:r>
            <a:br/>
            <a:r>
              <a:t>em.clear();                  // Leert gesamten Cache (alle Entities werden Detached)</a:t>
            </a:r>
            <a:br/>
            <a:r>
              <a:t>em.refresh(managed);         // Überschreibt Entity mit aktuellem DB-Stand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02. IDENTIFIER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2.1 Primärschlüssel (Primary Key Generation)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1072865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03120"/>
                <a:gridCol w="3291840"/>
                <a:gridCol w="3322015"/>
              </a:tblGrid>
              <a:tr h="585216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Strategie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DB-Mechanismus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Vorteile &amp; Verhalten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Nachteile / Fallstricke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IDENTITY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AUTO_INCREMENT / SERIAL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Einfach; DB generiert ID beim INSERT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Verhindert JDBC-Batch-Inserts (INSERT muss sofort feuern)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SEQUENCE</a:t>
                      </a:r>
                    </a:p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(Empfohlen)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DB Sequence Objekt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Sehr schnell; Vorab-Allokation; Batch-Inserts voll unterstützt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DB muss Sequenzen unterstützen (Oracle, PG, Derby)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TABLE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Eigene Generator-Tabelle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Portabel über alle DBs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Langsam; sperrt Hilfstabelle bei jedem Key-Fetch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AUTO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Provider-Wahl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Wählt SEQUENCE oder IDENTITY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Nicht deterministisch über verschiedene Provider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572000"/>
            <a:ext cx="10728655" cy="18288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663440"/>
            <a:ext cx="10454335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4F46E5"/>
                </a:solidFill>
                <a:latin typeface="Segoe UI"/>
              </a:defRPr>
            </a:pPr>
            <a:r>
              <a:t>BEST PRACTICE: SEQUENCE MIT ALLOCATION SIZE</a:t>
            </a:r>
          </a:p>
          <a:p>
            <a:pPr>
              <a:defRPr sz="1050">
                <a:solidFill>
                  <a:srgbClr val="1E293B"/>
                </a:solidFill>
                <a:latin typeface="Consolas"/>
              </a:defRPr>
            </a:pPr>
            <a:r>
              <a:t>@Id</a:t>
            </a:r>
            <a:br/>
            <a:r>
              <a:t>@GeneratedValue(strategy = GenerationType.SEQUENCE, generator = "veh_seq_gen")</a:t>
            </a:r>
            <a:br/>
            <a:r>
              <a:t>@SequenceGenerator(name = "veh_seq_gen", sequenceName = "SEQ_VEHICLE", allocationSize = 50)</a:t>
            </a:r>
            <a:br/>
            <a:r>
              <a:t>private Long id;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02. IDENTIFIER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2.2 Zusammengesetzte Primärschlüssel (@EmbeddedId)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8640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63040"/>
            <a:ext cx="5212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4F46E5"/>
                </a:solidFill>
                <a:latin typeface="Segoe UI"/>
              </a:defRPr>
            </a:pPr>
            <a:r>
              <a:t>EMBEDDED ID IMPLEMENTIERUNG</a:t>
            </a:r>
          </a:p>
          <a:p>
            <a:pPr>
              <a:defRPr sz="1050">
                <a:solidFill>
                  <a:srgbClr val="1E293B"/>
                </a:solidFill>
                <a:latin typeface="Consolas"/>
              </a:defRPr>
            </a:pPr>
            <a:r>
              <a:t>@Embeddable</a:t>
            </a:r>
            <a:br/>
            <a:r>
              <a:t>public class BookingId implements Serializable {</a:t>
            </a:r>
            <a:br/>
            <a:r>
              <a:t>    private String contractNumber;</a:t>
            </a:r>
            <a:br/>
            <a:r>
              <a:t>    private String branchCode;</a:t>
            </a:r>
            <a:br/>
            <a:br/>
            <a:r>
              <a:t>    // Default-Konstruktor, Konstruktor mit Feldern</a:t>
            </a:r>
            <a:br/>
            <a:r>
              <a:t>    // equals() und hashCode() basierend auf beiden Feldern!</a:t>
            </a:r>
            <a:br/>
            <a:r>
              <a:t>}</a:t>
            </a:r>
            <a:br/>
            <a:br/>
            <a:r>
              <a:t>@Entity</a:t>
            </a:r>
            <a:br/>
            <a:r>
              <a:t>public class Booking {</a:t>
            </a:r>
            <a:br/>
            <a:r>
              <a:t>    @EmbeddedId</a:t>
            </a:r>
            <a:br/>
            <a:r>
              <a:t>    private BookingId id;</a:t>
            </a:r>
            <a:br/>
            <a:br/>
            <a:r>
              <a:t>    private String customerName;</a:t>
            </a:r>
            <a:br/>
            <a:r>
              <a:t>    private double totalAmount;</a:t>
            </a:r>
            <a:br/>
            <a: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5937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54480"/>
            <a:ext cx="46936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4F46E5"/>
                </a:solidFill>
              </a:defRPr>
            </a:pPr>
            <a:r>
              <a:t>Best Practice Regeln für Composite Keys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1. @Embeddable &amp; Serializable: Die Schlüsselklasse muss zwingend Serializable implementieren und einen parameterlosen Konstruktor besitzen.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2. Konsistente equals() und hashCode(): Essentiell für den First-Level-Cache des EntityManagers und Set-Operationen.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3. @EmbeddedId vs @IdClass: @EmbeddedId kapselt die Identität in einem sauberen Wertobjekt. @IdClass wiederholt Attribute flach in der Entity und ist fehleranfällig.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4. Abfrage per ID: em.find(Booking.class, new BookingId("RENT-001", "BER-01")) ist typsicher und kompakt.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02. MAPPINGS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2.3 Wertobjekte: @Embeddable &amp; @Embedded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8640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63040"/>
            <a:ext cx="5212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4F46E5"/>
                </a:solidFill>
                <a:latin typeface="Segoe UI"/>
              </a:defRPr>
            </a:pPr>
            <a:r>
              <a:t>EMBEDDABLE &amp; ATTRIBUTE OVERRIDES</a:t>
            </a:r>
          </a:p>
          <a:p>
            <a:pPr>
              <a:defRPr sz="1050">
                <a:solidFill>
                  <a:srgbClr val="1E293B"/>
                </a:solidFill>
                <a:latin typeface="Consolas"/>
              </a:defRPr>
            </a:pPr>
            <a:r>
              <a:t>@Embeddable</a:t>
            </a:r>
            <a:br/>
            <a:r>
              <a:t>public class Address {</a:t>
            </a:r>
            <a:br/>
            <a:r>
              <a:t>    private String street;</a:t>
            </a:r>
            <a:br/>
            <a:r>
              <a:t>    private String zipCode;</a:t>
            </a:r>
            <a:br/>
            <a:r>
              <a:t>    private String city;</a:t>
            </a:r>
            <a:br/>
            <a:r>
              <a:t>}</a:t>
            </a:r>
            <a:br/>
            <a:br/>
            <a:r>
              <a:t>@Entity</a:t>
            </a:r>
            <a:br/>
            <a:r>
              <a:t>public class User {</a:t>
            </a:r>
            <a:br/>
            <a:r>
              <a:t>    @Id @GeneratedValue private Long id;</a:t>
            </a:r>
            <a:br/>
            <a:r>
              <a:t>    </a:t>
            </a:r>
            <a:br/>
            <a:r>
              <a:t>    @Embedded</a:t>
            </a:r>
            <a:br/>
            <a:r>
              <a:t>    @AttributeOverrides({</a:t>
            </a:r>
            <a:br/>
            <a:r>
              <a:t>        @AttributeOverride(name = "street", column = @Column(name = "BILLING_STREET")),</a:t>
            </a:r>
            <a:br/>
            <a:r>
              <a:t>        @AttributeOverride(name = "zipCode", column = @Column(name = "BILLING_ZIP"))</a:t>
            </a:r>
            <a:br/>
            <a:r>
              <a:t>    })</a:t>
            </a:r>
            <a:br/>
            <a:r>
              <a:t>    private Address billingAddress;</a:t>
            </a:r>
            <a:br/>
            <a: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5937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54480"/>
            <a:ext cx="46936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4F46E5"/>
                </a:solidFill>
              </a:defRPr>
            </a:pPr>
            <a:r>
              <a:t>Eigenschaften von Embeddables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Keine eigene Identität: Besitzen keinen eigenen @Id-Schlüssel.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Gemeinsame Tabelle: Felder werden direkt in die Tabelle der besitzenden Entity gemappt.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AttributeOverrides: Ermöglicht das mehrfache Einbetten desselben Wertobjekts (z.B. billingAddress und shippingAddress) mit unterschiedlichen Spaltennamen.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Nested Embeddables: Embeddables können wiederum weitere Embeddables enthalten.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  <a:latin typeface="Segoe UI"/>
              </a:defRPr>
            </a:pPr>
            <a:r>
              <a:t>02. MAPPINGS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2.4 Benutzerdefinierte Typen mit @Converter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8640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63040"/>
            <a:ext cx="5212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4F46E5"/>
                </a:solidFill>
                <a:latin typeface="Segoe UI"/>
              </a:defRPr>
            </a:pPr>
            <a:r>
              <a:t>ATTRIBUTE CONVERTER DEFINITION</a:t>
            </a:r>
          </a:p>
          <a:p>
            <a:pPr>
              <a:defRPr sz="1050">
                <a:solidFill>
                  <a:srgbClr val="1E293B"/>
                </a:solidFill>
                <a:latin typeface="Consolas"/>
              </a:defRPr>
            </a:pPr>
            <a:r>
              <a:t>public enum FuelType {</a:t>
            </a:r>
            <a:br/>
            <a:r>
              <a:t>    PETROL("P"), DIESEL("D"), ELECTRIC("E"), HYBRID("H");</a:t>
            </a:r>
            <a:br/>
            <a:r>
              <a:t>    private final String code;</a:t>
            </a:r>
            <a:br/>
            <a:r>
              <a:t>    FuelType(String c) { this.code = c; }</a:t>
            </a:r>
            <a:br/>
            <a:r>
              <a:t>    public String getCode() { return code; }</a:t>
            </a:r>
            <a:br/>
            <a:r>
              <a:t>    public static FuelType fromCode(String c) { ... }</a:t>
            </a:r>
            <a:br/>
            <a:r>
              <a:t>}</a:t>
            </a:r>
            <a:br/>
            <a:br/>
            <a:r>
              <a:t>@Converter(autoApply = true)</a:t>
            </a:r>
            <a:br/>
            <a:r>
              <a:t>public class FuelTypeConverter implements AttributeConverter&lt;FuelType, String&gt; {</a:t>
            </a:r>
            <a:br/>
            <a:r>
              <a:t>    public String convertToDatabaseColumn(FuelType type) {</a:t>
            </a:r>
            <a:br/>
            <a:r>
              <a:t>        return type != null ? type.getCode() : null;</a:t>
            </a:r>
            <a:br/>
            <a:r>
              <a:t>    }</a:t>
            </a:r>
            <a:br/>
            <a:r>
              <a:t>    public FuelType convertToEntityAttribute(String code) {</a:t>
            </a:r>
            <a:br/>
            <a:r>
              <a:t>        return FuelType.fromCode(code);</a:t>
            </a:r>
            <a:br/>
            <a:r>
              <a:t>    }</a:t>
            </a:r>
            <a:br/>
            <a: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5937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54480"/>
            <a:ext cx="46936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D9488"/>
                </a:solidFill>
              </a:defRPr>
            </a:pPr>
            <a:r>
              <a:t>Warum @Converter statt @Enumerated?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1. Schutz vor Datenkorruption: ORDINAL speichert 0, 1, 2. Wird das Enum erweitert oder umsortiert, ändern sich alle Bedeutungen in der DB!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2. Maximale Speichereffizienz: Speichert kompakte Einzelzeichen ('E', 'D', 'P') statt langer String-Texte.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3. autoApply = true: Bindet den Konverter automatisch an alle Entities, die diesen Typ verwenden (kein manuelles @Convert nötig).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4. Beliebige Java-Typen: Auch für verschlüsselte Strings, JSON-Payloads, Geldbeträge oder Custom Value Objects geeignet.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  <a:latin typeface="Segoe UI"/>
              </a:defRPr>
            </a:pPr>
            <a:r>
              <a:t>03. BEZIEHUNGEN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3.1 Basis-Beziehungen (1:1 &amp; N:1)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8640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63040"/>
            <a:ext cx="5212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4F46E5"/>
                </a:solidFill>
                <a:latin typeface="Segoe UI"/>
              </a:defRPr>
            </a:pPr>
            <a:r>
              <a:t>1:1 UND N:1 RELATIONSMAPPINGS</a:t>
            </a:r>
          </a:p>
          <a:p>
            <a:pPr>
              <a:defRPr sz="1050">
                <a:solidFill>
                  <a:srgbClr val="1E293B"/>
                </a:solidFill>
                <a:latin typeface="Consolas"/>
              </a:defRPr>
            </a:pPr>
            <a:r>
              <a:t>// N:1 Beziehung (Owning Side):</a:t>
            </a:r>
            <a:br/>
            <a:r>
              <a:t>@Entity</a:t>
            </a:r>
            <a:br/>
            <a:r>
              <a:t>public class Vehicle {</a:t>
            </a:r>
            <a:br/>
            <a:r>
              <a:t>    @ManyToOne(fetch = FetchType.LAZY, optional = false)</a:t>
            </a:r>
            <a:br/>
            <a:r>
              <a:t>    @JoinColumn(name = "SHOP_ID")</a:t>
            </a:r>
            <a:br/>
            <a:r>
              <a:t>    private Shop shop;</a:t>
            </a:r>
            <a:br/>
            <a:r>
              <a:t>}</a:t>
            </a:r>
            <a:br/>
            <a:br/>
            <a:r>
              <a:t>// 1:1 Beziehung mit Fremdschlüssel:</a:t>
            </a:r>
            <a:br/>
            <a:r>
              <a:t>@Entity</a:t>
            </a:r>
            <a:br/>
            <a:r>
              <a:t>public class User {</a:t>
            </a:r>
            <a:br/>
            <a:r>
              <a:t>    @OneToOne(fetch = FetchType.LAZY, cascade = CascadeType.ALL)</a:t>
            </a:r>
            <a:br/>
            <a:r>
              <a:t>    @JoinColumn(name = "DRIVER_LICENSE_ID", unique = true)</a:t>
            </a:r>
            <a:br/>
            <a:r>
              <a:t>    private DriverLicense license;</a:t>
            </a:r>
            <a:br/>
            <a: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5937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54480"/>
            <a:ext cx="46936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D9488"/>
                </a:solidFill>
              </a:defRPr>
            </a:pPr>
            <a:r>
              <a:t>Best Practices für To-One Relationen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Immer FetchType.LAZY: JPA Default ist EAGER auf @ManyToOne und @OneToOne. Unbedingt explizit auf LAZY überschreiben!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Owning Side: Die Seite mit @JoinColumn hält die physische Fremdschlüsselspalte in der Tabelle.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Unique Constraint bei 1:1: Verhindert Mehrfachzuweisungen desselben Kindes auf Datenbankebene.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  <a:latin typeface="Segoe UI"/>
              </a:defRPr>
            </a:pPr>
            <a:r>
              <a:t>03. BEZIEHUNGEN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3.2 Collection-Beziehungen (1:N)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8640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63040"/>
            <a:ext cx="5212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4F46E5"/>
                </a:solidFill>
                <a:latin typeface="Segoe UI"/>
              </a:defRPr>
            </a:pPr>
            <a:r>
              <a:t>BIDIREKTIONALE 1:N BEZIEHUNG</a:t>
            </a:r>
          </a:p>
          <a:p>
            <a:pPr>
              <a:defRPr sz="1050">
                <a:solidFill>
                  <a:srgbClr val="1E293B"/>
                </a:solidFill>
                <a:latin typeface="Consolas"/>
              </a:defRPr>
            </a:pPr>
            <a:r>
              <a:t>@Entity</a:t>
            </a:r>
            <a:br/>
            <a:r>
              <a:t>public class Shop {</a:t>
            </a:r>
            <a:br/>
            <a:r>
              <a:t>    @OneToMany(mappedBy = "shop", </a:t>
            </a:r>
            <a:br/>
            <a:r>
              <a:t>               cascade = CascadeType.ALL, </a:t>
            </a:r>
            <a:br/>
            <a:r>
              <a:t>               orphanRemoval = true)</a:t>
            </a:r>
            <a:br/>
            <a:r>
              <a:t>    private List&lt;Vehicle&gt; carpool = new ArrayList&lt;&gt;();</a:t>
            </a:r>
            <a:br/>
            <a:br/>
            <a:r>
              <a:t>    // Defensive Synchronisation:</a:t>
            </a:r>
            <a:br/>
            <a:r>
              <a:t>    public void addVehicle(Vehicle v) {</a:t>
            </a:r>
            <a:br/>
            <a:r>
              <a:t>        carpool.add(v);</a:t>
            </a:r>
            <a:br/>
            <a:r>
              <a:t>        v.setShop(this);</a:t>
            </a:r>
            <a:br/>
            <a:r>
              <a:t>    }</a:t>
            </a:r>
            <a:br/>
            <a:r>
              <a:t>    public void removeVehicle(Vehicle v) {</a:t>
            </a:r>
            <a:br/>
            <a:r>
              <a:t>        carpool.remove(v);</a:t>
            </a:r>
            <a:br/>
            <a:r>
              <a:t>        v.setShop(null);</a:t>
            </a:r>
            <a:br/>
            <a:r>
              <a:t>    }</a:t>
            </a:r>
            <a:br/>
            <a: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5937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54480"/>
            <a:ext cx="46936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D9488"/>
                </a:solidFill>
              </a:defRPr>
            </a:pPr>
            <a:r>
              <a:t>Regeln für 1:N Beziehungen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mappedBy ist Pflicht: Verweist auf den Java-Feldnamen der Gegenseite (@ManyToOne private Shop shop;). Ohne mappedBy erzeugt JPA eine unnötige Join-Tabelle!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Initialisierung: Collections immer direkt bei der Deklaration mit new ArrayList&lt;&gt;() initialisieren.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Defensive Methoden: addVehicle() und removeVehicle() halten beide Seiten im Speicher synchron.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  <a:latin typeface="Segoe UI"/>
              </a:defRPr>
            </a:pPr>
            <a:r>
              <a:t>03. BEZIEHUNGEN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3.3 Many-to-Many (@ManyToMany)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8640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63040"/>
            <a:ext cx="5212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4F46E5"/>
                </a:solidFill>
                <a:latin typeface="Segoe UI"/>
              </a:defRPr>
            </a:pPr>
            <a:r>
              <a:t>M:N MAPPING MIT JOIN-TABELLE</a:t>
            </a:r>
          </a:p>
          <a:p>
            <a:pPr>
              <a:defRPr sz="1050">
                <a:solidFill>
                  <a:srgbClr val="1E293B"/>
                </a:solidFill>
                <a:latin typeface="Consolas"/>
              </a:defRPr>
            </a:pPr>
            <a:r>
              <a:t>@Entity</a:t>
            </a:r>
            <a:br/>
            <a:r>
              <a:t>public class Vehicle {</a:t>
            </a:r>
            <a:br/>
            <a:r>
              <a:t>    @ManyToMany</a:t>
            </a:r>
            <a:br/>
            <a:r>
              <a:t>    @JoinTable(</a:t>
            </a:r>
            <a:br/>
            <a:r>
              <a:t>        name = "TBL_VEHICLE_FEATURE",</a:t>
            </a:r>
            <a:br/>
            <a:r>
              <a:t>        joinColumns = @JoinColumn(name = "VEHICLE_ID"),</a:t>
            </a:r>
            <a:br/>
            <a:r>
              <a:t>        inverseJoinColumns = @JoinColumn(name = "FEATURE_ID")</a:t>
            </a:r>
            <a:br/>
            <a:r>
              <a:t>    )</a:t>
            </a:r>
            <a:br/>
            <a:r>
              <a:t>    private Set&lt;Feature&gt; features = new HashSet&lt;&gt;();</a:t>
            </a:r>
            <a:br/>
            <a:r>
              <a:t>}</a:t>
            </a:r>
            <a:br/>
            <a:br/>
            <a:r>
              <a:t>@Entity</a:t>
            </a:r>
            <a:br/>
            <a:r>
              <a:t>public class Feature {</a:t>
            </a:r>
            <a:br/>
            <a:r>
              <a:t>    @ManyToMany(mappedBy = "features")</a:t>
            </a:r>
            <a:br/>
            <a:r>
              <a:t>    private Set&lt;Vehicle&gt; vehicles = new HashSet&lt;&gt;();</a:t>
            </a:r>
            <a:br/>
            <a: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5937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54480"/>
            <a:ext cx="46936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D9488"/>
                </a:solidFill>
              </a:defRPr>
            </a:pPr>
            <a:r>
              <a:t>Best Practices für M:N Beziehungen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Set statt List: Verwende Set&lt;T&gt;, um Duplikate und ineffizientes Löschen in Join-Tabellen zu verhindern.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Kein CascadeType.REMOVE: Löschen eines Fahrzeugs darf niemals das globale Ausstattungsmerkmal 'Klimaanlage' löschen!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Verknüpfungsattribute: Falls die Beziehung eigene Attribute hat (z.B. assignedAt), als zwei 1:N Beziehungen mit eigener Verknüpfungs-Entity modellieren.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  <a:latin typeface="Segoe UI"/>
              </a:defRPr>
            </a:pPr>
            <a:r>
              <a:t>03. BEZIEHUNGEN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3.4 Kaskadierung &amp; Orphan Removal (Parent-Child)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8640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63040"/>
            <a:ext cx="5212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4F46E5"/>
                </a:solidFill>
                <a:latin typeface="Segoe UI"/>
              </a:defRPr>
            </a:pPr>
            <a:r>
              <a:t>AGGREGAT-LIFECYCLE MIT ORPHAN REMOVAL</a:t>
            </a:r>
          </a:p>
          <a:p>
            <a:pPr>
              <a:defRPr sz="1050">
                <a:solidFill>
                  <a:srgbClr val="1E293B"/>
                </a:solidFill>
                <a:latin typeface="Consolas"/>
              </a:defRPr>
            </a:pPr>
            <a:r>
              <a:t>@Entity</a:t>
            </a:r>
            <a:br/>
            <a:r>
              <a:t>public class RentalContract {</a:t>
            </a:r>
            <a:br/>
            <a:r>
              <a:t>    @Id @GeneratedValue private Long id;</a:t>
            </a:r>
            <a:br/>
            <a:br/>
            <a:r>
              <a:t>    @OneToMany(mappedBy = "contract",</a:t>
            </a:r>
            <a:br/>
            <a:r>
              <a:t>               cascade = CascadeType.ALL,</a:t>
            </a:r>
            <a:br/>
            <a:r>
              <a:t>               orphanRemoval = true)</a:t>
            </a:r>
            <a:br/>
            <a:r>
              <a:t>    private List&lt;DamageRecord&gt; damages = new ArrayList&lt;&gt;();</a:t>
            </a:r>
            <a:br/>
            <a:br/>
            <a:r>
              <a:t>    public void addDamage(DamageRecord d) {</a:t>
            </a:r>
            <a:br/>
            <a:r>
              <a:t>        damages.add(d);</a:t>
            </a:r>
            <a:br/>
            <a:r>
              <a:t>        d.setContract(this);</a:t>
            </a:r>
            <a:br/>
            <a:r>
              <a:t>    }</a:t>
            </a:r>
            <a:br/>
            <a:r>
              <a:t>    public void removeDamage(DamageRecord d) {</a:t>
            </a:r>
            <a:br/>
            <a:r>
              <a:t>        damages.remove(d);</a:t>
            </a:r>
            <a:br/>
            <a:r>
              <a:t>        d.setContract(null); // Triggert SQL DELETE!</a:t>
            </a:r>
            <a:br/>
            <a:r>
              <a:t>    }</a:t>
            </a:r>
            <a:br/>
            <a: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5937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54480"/>
            <a:ext cx="46936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D9488"/>
                </a:solidFill>
              </a:defRPr>
            </a:pPr>
            <a:r>
              <a:t>Unterschied: Cascade REMOVE vs Orphan Removal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CascadeType.REMOVE: Löscht Kind-Datensätze nur dann, wenn das gesamte Elternobjekt (RentalContract) per em.remove() gelöscht wird.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orphanRemoval = true: Löscht das Kindobjekt zusätzlich aus der DB, wenn es aus der Java-Collection entfernt wird (contract.removeDamage(d)).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Echtes Aggregat: Perfekt für untergeordnete Details (Rechnungsposten, Schäden, Buchungszeilen).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Verbot: Niemals auf unabhängigen Stammdaten (Fahrer, Standorte, Kategorien) anwenden!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9333EA"/>
                </a:solidFill>
                <a:latin typeface="Segoe UI"/>
              </a:defRPr>
            </a:pPr>
            <a:r>
              <a:t>04. VERERBUNG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4. Vererbungsstrategien (Inheritance)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1072865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011680"/>
                <a:gridCol w="2194560"/>
                <a:gridCol w="2194560"/>
                <a:gridCol w="2224735"/>
              </a:tblGrid>
              <a:tr h="585216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Strategie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DB-Tabellen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Performance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Datenintegrität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Einsatzempfehlung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333EA"/>
                          </a:solidFill>
                        </a:defRPr>
                      </a:pPr>
                      <a:r>
                        <a:t>SINGLE_TABLE</a:t>
                      </a:r>
                    </a:p>
                    <a:p>
                      <a:pPr>
                        <a:defRPr sz="1000" b="1">
                          <a:solidFill>
                            <a:srgbClr val="9333EA"/>
                          </a:solidFill>
                        </a:defRPr>
                      </a:pPr>
                      <a:r>
                        <a:t>(Standard)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1 gemeinsame Tabelle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Sehr schnell (keine Joins)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Schwach (Subklassen-Spalten müssen NULL erlauben)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Flache Hierarchien mit wenigen Subklassen-Feldern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333EA"/>
                          </a:solidFill>
                        </a:defRPr>
                      </a:pPr>
                      <a:r>
                        <a:t>JOINED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1 Basis + 1 je Subklasse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Mittel (Joins über PK/FK nötig)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Exzellent (echte NOT NULL &amp; FK-Constraints)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Tiefe Hierarchien mit vielen spezifischen Attributen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333EA"/>
                          </a:solidFill>
                        </a:defRPr>
                      </a:pPr>
                      <a:r>
                        <a:t>TABLE_PER_CLASS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1 je konkrete Klasse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Langsam bei Polymorphie (UNION nötig)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Gut je Einzeltabelle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Selten polymorphe Abfragen über Basisklasse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333EA"/>
                          </a:solidFill>
                        </a:defRPr>
                      </a:pPr>
                      <a:r>
                        <a:t>@MappedSuperclass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Keine Basistabelle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Sehr schnell (Attribute in Kindtabellen)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Gut je Entity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</a:defRPr>
                      </a:pPr>
                      <a:r>
                        <a:t>Gemeinsame technische Basisfelder (id, createdAt)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480560"/>
            <a:ext cx="10728655" cy="192024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572000"/>
            <a:ext cx="1045433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4F46E5"/>
                </a:solidFill>
                <a:latin typeface="Segoe UI"/>
              </a:defRPr>
            </a:pPr>
            <a:r>
              <a:t>BEISPIEL: SINGLE_TABLE MIT DISKRIMINATOR</a:t>
            </a:r>
          </a:p>
          <a:p>
            <a:pPr>
              <a:defRPr sz="1050">
                <a:solidFill>
                  <a:srgbClr val="1E293B"/>
                </a:solidFill>
                <a:latin typeface="Consolas"/>
              </a:defRPr>
            </a:pPr>
            <a:r>
              <a:t>@Entity</a:t>
            </a:r>
            <a:br/>
            <a:r>
              <a:t>@Inheritance(strategy = InheritanceType.SINGLE_TABLE)</a:t>
            </a:r>
            <a:br/>
            <a:r>
              <a:t>@DiscriminatorColumn(name = "DISC_TYPE", discriminatorType = DiscriminatorType.STRING)</a:t>
            </a:r>
            <a:br/>
            <a:r>
              <a:t>public abstract class VehicleType { ... 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05. ABFRAGEN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5.1 JPQL Abfragen &amp; DTO Projektionen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8640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63040"/>
            <a:ext cx="5212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4F46E5"/>
                </a:solidFill>
                <a:latin typeface="Segoe UI"/>
              </a:defRPr>
            </a:pPr>
            <a:r>
              <a:t>JPQL ABFRAGEN UND PROJEKTIONEN</a:t>
            </a:r>
          </a:p>
          <a:p>
            <a:pPr>
              <a:defRPr sz="1050">
                <a:solidFill>
                  <a:srgbClr val="1E293B"/>
                </a:solidFill>
                <a:latin typeface="Consolas"/>
              </a:defRPr>
            </a:pPr>
            <a:r>
              <a:t>// 1. Einfache Abfrage mit benanntem Parameter:</a:t>
            </a:r>
            <a:br/>
            <a:r>
              <a:t>TypedQuery&lt;Vehicle&gt; q1 = em.createQuery(</a:t>
            </a:r>
            <a:br/>
            <a:r>
              <a:t>    "SELECT v FROM Vehicle v WHERE v.brand = :brand ORDER BY v.dailyRate ASC",</a:t>
            </a:r>
            <a:br/>
            <a:r>
              <a:t>    Vehicle.class);</a:t>
            </a:r>
            <a:br/>
            <a:r>
              <a:t>q1.setParameter("brand", "BMW");</a:t>
            </a:r>
            <a:br/>
            <a:r>
              <a:t>List&lt;Vehicle&gt; list = q1.getResultList();</a:t>
            </a:r>
            <a:br/>
            <a:br/>
            <a:r>
              <a:t>// 2. DTO Constructor Expression (Direkte Projektion):</a:t>
            </a:r>
            <a:br/>
            <a:r>
              <a:t>TypedQuery&lt;VehicleDto&gt; q2 = em.createQuery(</a:t>
            </a:r>
            <a:br/>
            <a:r>
              <a:t>    "SELECT new net.rentacar.dto.VehicleDto(v.brand, v.modell, v.dailyRate) " +</a:t>
            </a:r>
            <a:br/>
            <a:r>
              <a:t>    "FROM Vehicle v WHERE v.active = true", VehicleDto.class);</a:t>
            </a:r>
            <a:br/>
            <a:r>
              <a:t>List&lt;VehicleDto&gt; dtos = q2.getResultList();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5937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54480"/>
            <a:ext cx="46936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4F46E5"/>
                </a:solidFill>
              </a:defRPr>
            </a:pPr>
            <a:r>
              <a:t>JPQL Regeln &amp; Best Practices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Entity-Namen statt Tabellen: JPQL operiert auf Java-Klassen und Attributen, nicht auf SQL-Tabellen und Spalten.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Benannte Parameter (:name): Verhindert SQL-Injections und ermöglicht Statement-Caching.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DTO Constructor Expressions: Vermeidet das Laden kompletter Managed Entities in den Persistence Context für reine Lese-Operationen.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Paging: setFirstResult(offset) und setMaxResults(limit) nutzen.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05. ABFRAGEN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5.2 JPQL Joins &amp; N+1 Vermeidung (JOIN FETCH)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8640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63040"/>
            <a:ext cx="5212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4F46E5"/>
                </a:solidFill>
                <a:latin typeface="Segoe UI"/>
              </a:defRPr>
            </a:pPr>
            <a:r>
              <a:t>JOIN TYPEN IN JPQL</a:t>
            </a:r>
          </a:p>
          <a:p>
            <a:pPr>
              <a:defRPr sz="1050">
                <a:solidFill>
                  <a:srgbClr val="1E293B"/>
                </a:solidFill>
                <a:latin typeface="Consolas"/>
              </a:defRPr>
            </a:pPr>
            <a:r>
              <a:t>// Inner Join (Filtert Shops ohne Fahrzeuge):</a:t>
            </a:r>
            <a:br/>
            <a:r>
              <a:t>SELECT s FROM Shop s JOIN s.carpool v WHERE v.active = true</a:t>
            </a:r>
            <a:br/>
            <a:br/>
            <a:r>
              <a:t>// Left Join (Liefert alle Shops):</a:t>
            </a:r>
            <a:br/>
            <a:r>
              <a:t>SELECT s FROM Shop s LEFT JOIN s.carpool v</a:t>
            </a:r>
            <a:br/>
            <a:br/>
            <a:r>
              <a:t>// JOIN FETCH (Lädt Assoziation in 1 SQL-Query eagerly!):</a:t>
            </a:r>
            <a:br/>
            <a:r>
              <a:t>SELECT DISTINCT s FROM Shop s </a:t>
            </a:r>
            <a:br/>
            <a:r>
              <a:t>LEFT JOIN FETCH s.carpool </a:t>
            </a:r>
            <a:br/>
            <a:r>
              <a:t>WHERE s.city = :city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5937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54480"/>
            <a:ext cx="46936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4F46E5"/>
                </a:solidFill>
              </a:defRPr>
            </a:pPr>
            <a:r>
              <a:t>Das N+1 Select Problem lösen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N+1 Ursache: 1 Query lädt N Parent-Entities. Beim Zugriff auf die Lazy-Collection feuert JPA N weitere Queries ab.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Lösung JOIN FETCH: Lädt die Parents und ihre Children in einem einzigen SQL-Join.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DISTINCT Schlüsselwort: Verhindert Duplikate des Parents im Java-Ergebnis, wenn dieser mehrere Kind-Datensätze besitzt.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Achtung: Niemals mehrere JOIN FETCH auf Collections in einer Query kombinieren (MultipleBagFetchException / Kartesisches Produkt)!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05. ABFRAGEN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5.3 JPA Entity Graphs (fetchgraph &amp; loadgraph)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8640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63040"/>
            <a:ext cx="5212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4F46E5"/>
                </a:solidFill>
                <a:latin typeface="Segoe UI"/>
              </a:defRPr>
            </a:pPr>
            <a:r>
              <a:t>ENTITY GRAPH API</a:t>
            </a:r>
          </a:p>
          <a:p>
            <a:pPr>
              <a:defRPr sz="1050">
                <a:solidFill>
                  <a:srgbClr val="1E293B"/>
                </a:solidFill>
                <a:latin typeface="Consolas"/>
              </a:defRPr>
            </a:pPr>
            <a:r>
              <a:t>// 1. Programmatischer EntityGraph</a:t>
            </a:r>
            <a:br/>
            <a:r>
              <a:t>EntityGraph&lt;Shop&gt; graph = em.createEntityGraph(Shop.class);</a:t>
            </a:r>
            <a:br/>
            <a:r>
              <a:t>graph.addAttributeNodes("carpool");</a:t>
            </a:r>
            <a:br/>
            <a:r>
              <a:t>// Optional: Verschachtelter Subgraph</a:t>
            </a:r>
            <a:br/>
            <a:r>
              <a:t>Subgraph&lt;Vehicle&gt; vehGraph = graph.addSubgraph("carpool");</a:t>
            </a:r>
            <a:br/>
            <a:r>
              <a:t>vehGraph.addAttributeNodes("type");</a:t>
            </a:r>
            <a:br/>
            <a:br/>
            <a:r>
              <a:t>// 2. Abfrage mit Query Hint</a:t>
            </a:r>
            <a:br/>
            <a:r>
              <a:t>List&lt;Shop&gt; shops = em.createQuery("SELECT s FROM Shop s", Shop.class)</a:t>
            </a:r>
            <a:br/>
            <a:r>
              <a:t>    .setHint("jakarta.persistence.fetchgraph", graph)</a:t>
            </a:r>
            <a:br/>
            <a:r>
              <a:t>    .getResultList();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5937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54480"/>
            <a:ext cx="46936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4F46E5"/>
                </a:solidFill>
              </a:defRPr>
            </a:pPr>
            <a:r>
              <a:t>Vorteile &amp; Hints im Überblick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Dynamischer Ladeplan: Ändert nicht den JPQL-String; derselbe Basis-Query kann für Listen und Details verwendet werden.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fetchgraph vs loadgraph: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  • fetchgraph: Alle gelisteten Attribute = EAGER, alle ungelisteten = LAZY (überschreibt statisches EAGER).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  • loadgraph: Gelistete Attribute = EAGER, ungelistete behalten ihr Mapping.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Deklarativ per @NamedEntityGraph an der Entity oder dynamisch per createEntityGraph() im Code erstellbar.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05. ABFRAGEN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5.4 Massenoperationen (Bulk Updates &amp; Deletes)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8640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63040"/>
            <a:ext cx="5212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4F46E5"/>
                </a:solidFill>
                <a:latin typeface="Segoe UI"/>
              </a:defRPr>
            </a:pPr>
            <a:r>
              <a:t>BULK UPDATE WORKFLOW</a:t>
            </a:r>
          </a:p>
          <a:p>
            <a:pPr>
              <a:defRPr sz="1050">
                <a:solidFill>
                  <a:srgbClr val="1E293B"/>
                </a:solidFill>
                <a:latin typeface="Consolas"/>
              </a:defRPr>
            </a:pPr>
            <a:r>
              <a:t>// 1. Ausstehende Änderungen schreiben</a:t>
            </a:r>
            <a:br/>
            <a:r>
              <a:t>em.flush();</a:t>
            </a:r>
            <a:br/>
            <a:br/>
            <a:r>
              <a:t>// 2. Massenoperation direkt auf Datenbank ausführen</a:t>
            </a:r>
            <a:br/>
            <a:r>
              <a:t>int updated = em.createQuery(</a:t>
            </a:r>
            <a:br/>
            <a:r>
              <a:t>    "UPDATE BulkVehicle v SET v.dailyRate = v.dailyRate * 1.1 " +</a:t>
            </a:r>
            <a:br/>
            <a:r>
              <a:t>    "WHERE v.active = true")</a:t>
            </a:r>
            <a:br/>
            <a:r>
              <a:t>    .executeUpdate();</a:t>
            </a:r>
            <a:br/>
            <a:br/>
            <a:r>
              <a:t>// 3. Cache leeren, um veralteten Zustand zu verhindern!</a:t>
            </a:r>
            <a:br/>
            <a:r>
              <a:t>em.clear();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5937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54480"/>
            <a:ext cx="46936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D97706"/>
                </a:solidFill>
              </a:defRPr>
            </a:pPr>
            <a:r>
              <a:t>Die Stale-Data-Falle bei executeUpdate()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Direktes SQL: executeUpdate() umgeht den Persistence Context (1st-Level Cache) vollständig.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Inkonsistenz im Speicher: Bereits geladene Entities im Cache werden nicht aktualisiert oder gelöscht!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Die 3-Schritt-Regel: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  1. flush(): Dirty Changes vor der Massenoperation in die DB schreiben.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  2. executeUpdate(): SQL UPDATE/DELETE auf DB absetzen.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  3. clear(): Cache leeren, damit Entities neu aus DB geladen werden.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06. CRITERIA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6. Criteria API Abfragen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8640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63040"/>
            <a:ext cx="5212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4F46E5"/>
                </a:solidFill>
                <a:latin typeface="Segoe UI"/>
              </a:defRPr>
            </a:pPr>
            <a:r>
              <a:t>DYNAMISCHE CRITERIA QUERY</a:t>
            </a:r>
          </a:p>
          <a:p>
            <a:pPr>
              <a:defRPr sz="1050">
                <a:solidFill>
                  <a:srgbClr val="1E293B"/>
                </a:solidFill>
                <a:latin typeface="Consolas"/>
              </a:defRPr>
            </a:pPr>
            <a:r>
              <a:t>CriteriaBuilder cb = em.getCriteriaBuilder();</a:t>
            </a:r>
            <a:br/>
            <a:r>
              <a:t>CriteriaQuery&lt;Vehicle&gt; cq = cb.createQuery(Vehicle.class);</a:t>
            </a:r>
            <a:br/>
            <a:r>
              <a:t>Root&lt;Vehicle&gt; root = cq.from(Vehicle.class);</a:t>
            </a:r>
            <a:br/>
            <a:br/>
            <a:r>
              <a:t>// Prädikate dynamisch zusammenbauen:</a:t>
            </a:r>
            <a:br/>
            <a:r>
              <a:t>List&lt;Predicate&gt; predicates = new ArrayList&lt;&gt;();</a:t>
            </a:r>
            <a:br/>
            <a:r>
              <a:t>if (brandFilter != null) {</a:t>
            </a:r>
            <a:br/>
            <a:r>
              <a:t>    predicates.add(cb.equal(root.get("brand"), brandFilter));</a:t>
            </a:r>
            <a:br/>
            <a:r>
              <a:t>}</a:t>
            </a:r>
            <a:br/>
            <a:r>
              <a:t>predicates.add(cb.greaterThan(root.get("dailyRate"), 50.0));</a:t>
            </a:r>
            <a:br/>
            <a:br/>
            <a:r>
              <a:t>cq.where(predicates.toArray(new Predicate[0]))</a:t>
            </a:r>
            <a:br/>
            <a:r>
              <a:t>  .orderBy(cb.asc(root.get("dailyRate")));</a:t>
            </a:r>
            <a:br/>
            <a:br/>
            <a:r>
              <a:t>List&lt;Vehicle&gt; results = em.createQuery(cq).getResultList();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5937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54480"/>
            <a:ext cx="46936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4F46E5"/>
                </a:solidFill>
              </a:defRPr>
            </a:pPr>
            <a:r>
              <a:t>Einsatzbereiche der Criteria API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Dynamische Suchformulare: Beliebige Kombinationen von Filterkriterien ohne String-Zusammenbau von JPQL.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Typsicherheit: In Kombination mit dem JPA Metamodel (Annotation Processor) vollständig refactoring-sicher (z.B. root.get(Vehicle_.brand)).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Komplexität: Für statische Abfragen ist JPQL deutlich lesbarer und vorzuziehen.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  <a:latin typeface="Segoe UI"/>
              </a:defRPr>
            </a:pPr>
            <a:r>
              <a:t>07. CALLBACKS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7. Entity Lifecycle Callbacks &amp; Listener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8640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63040"/>
            <a:ext cx="5212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4F46E5"/>
                </a:solidFill>
                <a:latin typeface="Segoe UI"/>
              </a:defRPr>
            </a:pPr>
            <a:r>
              <a:t>CALLBACK METHODEN &amp; LISTENER</a:t>
            </a:r>
          </a:p>
          <a:p>
            <a:pPr>
              <a:defRPr sz="1050">
                <a:solidFill>
                  <a:srgbClr val="1E293B"/>
                </a:solidFill>
                <a:latin typeface="Consolas"/>
              </a:defRPr>
            </a:pPr>
            <a:r>
              <a:t>@EntityListeners(AuditListener.class)</a:t>
            </a:r>
            <a:br/>
            <a:r>
              <a:t>@Entity</a:t>
            </a:r>
            <a:br/>
            <a:r>
              <a:t>public class Vehicle {</a:t>
            </a:r>
            <a:br/>
            <a:r>
              <a:t>    private Instant createdAt;</a:t>
            </a:r>
            <a:br/>
            <a:r>
              <a:t>    private Instant updatedAt;</a:t>
            </a:r>
            <a:br/>
            <a:br/>
            <a:r>
              <a:t>    @PrePersist</a:t>
            </a:r>
            <a:br/>
            <a:r>
              <a:t>    public void onPrePersist() {</a:t>
            </a:r>
            <a:br/>
            <a:r>
              <a:t>        this.createdAt = Instant.now();</a:t>
            </a:r>
            <a:br/>
            <a:r>
              <a:t>    }</a:t>
            </a:r>
            <a:br/>
            <a:br/>
            <a:r>
              <a:t>    @PreUpdate</a:t>
            </a:r>
            <a:br/>
            <a:r>
              <a:t>    public void onPreUpdate() {</a:t>
            </a:r>
            <a:br/>
            <a:r>
              <a:t>        this.updatedAt = Instant.now();</a:t>
            </a:r>
            <a:br/>
            <a:r>
              <a:t>    }</a:t>
            </a:r>
            <a:br/>
            <a: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5937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54480"/>
            <a:ext cx="46936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D9488"/>
                </a:solidFill>
              </a:defRPr>
            </a:pPr>
            <a:r>
              <a:t>Verfügbare Lifecycle Events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@PrePersist / @PostPersist: Vor / nach dem INSERT in die DB.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@PreUpdate / @PostUpdate: Vor / nach dem UPDATE in der DB.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@PreRemove / @PostRemove: Vor / nach dem DELETE in der DB.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@PostLoad: Nach dem Laden und Instanziieren der Entity aus der DB.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EntityListener: Auslagerung in wiederverwendbare Klassen (z.B. für automatisches Auditing).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08. CONCURRENCY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8.1 Concurrency: Optimistisches Locking (@Version)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8640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63040"/>
            <a:ext cx="5212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4F46E5"/>
                </a:solidFill>
                <a:latin typeface="Segoe UI"/>
              </a:defRPr>
            </a:pPr>
            <a:r>
              <a:t>OPTIMISTIC LOCKING MIT @VERSION</a:t>
            </a:r>
          </a:p>
          <a:p>
            <a:pPr>
              <a:defRPr sz="1050">
                <a:solidFill>
                  <a:srgbClr val="1E293B"/>
                </a:solidFill>
                <a:latin typeface="Consolas"/>
              </a:defRPr>
            </a:pPr>
            <a:r>
              <a:t>@Entity</a:t>
            </a:r>
            <a:br/>
            <a:r>
              <a:t>public class Vehicle {</a:t>
            </a:r>
            <a:br/>
            <a:r>
              <a:t>    @Id @GeneratedValue private Long id;</a:t>
            </a:r>
            <a:br/>
            <a:br/>
            <a:r>
              <a:t>    @Version</a:t>
            </a:r>
            <a:br/>
            <a:r>
              <a:t>    private Long version; // Automatische Versionierung</a:t>
            </a:r>
            <a:br/>
            <a:br/>
            <a:r>
              <a:t>    private String brand;</a:t>
            </a:r>
            <a:br/>
            <a:r>
              <a:t>    private boolean reserved;</a:t>
            </a:r>
            <a:br/>
            <a:r>
              <a:t>}</a:t>
            </a:r>
            <a:br/>
            <a:br/>
            <a:r>
              <a:t>// Hibernate generiert bei jedem UPDATE:</a:t>
            </a:r>
            <a:br/>
            <a:r>
              <a:t>// UPDATE VEHICLE SET RESERVED = 1, VERSION = 2 </a:t>
            </a:r>
            <a:br/>
            <a:r>
              <a:t>// WHERE ID = 1 AND VERSION =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5937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54480"/>
            <a:ext cx="46936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D97706"/>
                </a:solidFill>
              </a:defRPr>
            </a:pPr>
            <a:r>
              <a:t>OptimisticLockException &amp; Verhalten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Verhindert Lost Updates: Erkennt, wenn ein Datensatz zwischen Lesen und Schreiben von einer anderen Transaktion geändert wurde.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Keine DB-Sperren: Maximale Lese- und Schreib-Parallelität ohne Datenbank-Locks.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Ausnahmebehandlung: Wirft OptimisticLockException beim commit(). Transaktion muss abgebrochen und ggf. wiederholt werden.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Unterstützte Typen: Long, Integer, Short oder java.time.Instant.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08. CONCURRENCY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8.2 Concurrency: Pessimistisches Locking (SELECT FOR UPDATE)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8640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63040"/>
            <a:ext cx="5212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4F46E5"/>
                </a:solidFill>
                <a:latin typeface="Segoe UI"/>
              </a:defRPr>
            </a:pPr>
            <a:r>
              <a:t>PESSIMISTIC LOCKING API</a:t>
            </a:r>
          </a:p>
          <a:p>
            <a:pPr>
              <a:defRPr sz="1050">
                <a:solidFill>
                  <a:srgbClr val="1E293B"/>
                </a:solidFill>
                <a:latin typeface="Consolas"/>
              </a:defRPr>
            </a:pPr>
            <a:r>
              <a:t>// 1. Beim Laden sperren (SELECT ... FOR UPDATE)</a:t>
            </a:r>
            <a:br/>
            <a:r>
              <a:t>PessimisticVehicle v = em.find(</a:t>
            </a:r>
            <a:br/>
            <a:r>
              <a:t>    PessimisticVehicle.class, 1L,</a:t>
            </a:r>
            <a:br/>
            <a:r>
              <a:t>    LockModeType.PESSIMISTIC_WRITE);</a:t>
            </a:r>
            <a:br/>
            <a:br/>
            <a:r>
              <a:t>// 2. Nachträglich sperren</a:t>
            </a:r>
            <a:br/>
            <a:r>
              <a:t>em.lock(v, LockModeType.PESSIMISTIC_WRITE);</a:t>
            </a:r>
            <a:br/>
            <a:br/>
            <a:r>
              <a:t>// 3. In JPQL Query mit Timeout</a:t>
            </a:r>
            <a:br/>
            <a:r>
              <a:t>List&lt;PessimisticVehicle&gt; list = em.createQuery(</a:t>
            </a:r>
            <a:br/>
            <a:r>
              <a:t>    "SELECT v FROM PessimisticVehicle v WHERE v.reserved = false",</a:t>
            </a:r>
            <a:br/>
            <a:r>
              <a:t>    PessimisticVehicle.class)</a:t>
            </a:r>
            <a:br/>
            <a:r>
              <a:t>    .setLockMode(LockModeType.PESSIMISTIC_WRITE)</a:t>
            </a:r>
            <a:br/>
            <a:r>
              <a:t>    .setHint("jakarta.persistence.lock.timeout", 3000)</a:t>
            </a:r>
            <a:br/>
            <a:r>
              <a:t>    .getResultList();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5937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54480"/>
            <a:ext cx="46936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D97706"/>
                </a:solidFill>
              </a:defRPr>
            </a:pPr>
            <a:r>
              <a:t>Wann Pessimistisches Locking?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Hohe Schreibkollision: Bei knappen Ressourcen (Ticketverkauf, Fahrzeugbuchung, Kontostände), wo parallele Versuche fast sicher kollidieren.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PESSIMISTIC_WRITE: Exklusiver Lock auf DB-Zeilenebene; blockiert parallele Schreib- und Lese-Locks anderer Transaktionen.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PESSIMISTIC_READ: Shared Lock; verhindert parallele Updates.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Lock-Timeout: Mit jakarta.persistence.lock.timeout konfigurieren, um ewiges Hängen bei Deadlocks zu verhindern.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  <a:latin typeface="Segoe UI"/>
              </a:defRPr>
            </a:pPr>
            <a:r>
              <a:t>09.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9.1 Performance: Batching, Caching &amp; Lazy Loading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8640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63040"/>
            <a:ext cx="5212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4F46E5"/>
                </a:solidFill>
                <a:latin typeface="Segoe UI"/>
              </a:defRPr>
            </a:pPr>
            <a:r>
              <a:t>BATCH KONFIGURATION &amp; LOOP</a:t>
            </a:r>
          </a:p>
          <a:p>
            <a:pPr>
              <a:defRPr sz="1050">
                <a:solidFill>
                  <a:srgbClr val="1E293B"/>
                </a:solidFill>
                <a:latin typeface="Consolas"/>
              </a:defRPr>
            </a:pPr>
            <a:r>
              <a:t>// Batch-Inserts in persistence.xml aktivieren:</a:t>
            </a:r>
            <a:br/>
            <a:r>
              <a:t>&lt;property name="hibernate.jdbc.batch_size" value="50"/&gt;</a:t>
            </a:r>
            <a:br/>
            <a:r>
              <a:t>&lt;property name="hibernate.order_inserts" value="true"/&gt;</a:t>
            </a:r>
            <a:br/>
            <a:r>
              <a:t>&lt;property name="hibernate.order_updates" value="true"/&gt;</a:t>
            </a:r>
            <a:br/>
            <a:br/>
            <a:r>
              <a:t>// Java Batch Loop:</a:t>
            </a:r>
            <a:br/>
            <a:r>
              <a:t>for (int i = 0; i &lt; list.size(); i++) {</a:t>
            </a:r>
            <a:br/>
            <a:r>
              <a:t>    em.persist(list.get(i));</a:t>
            </a:r>
            <a:br/>
            <a:r>
              <a:t>    if (i &gt; 0 &amp;&amp; i % 50 == 0) {</a:t>
            </a:r>
            <a:br/>
            <a:r>
              <a:t>        em.flush();</a:t>
            </a:r>
            <a:br/>
            <a:r>
              <a:t>        em.clear();</a:t>
            </a:r>
            <a:br/>
            <a:r>
              <a:t>    }</a:t>
            </a:r>
            <a:br/>
            <a: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5937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54480"/>
            <a:ext cx="46936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D9488"/>
                </a:solidFill>
              </a:defRPr>
            </a:pPr>
            <a:r>
              <a:t>Die wichtigsten Performance-Hebel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JDBC Batching: Kombiniert mehrere INSERTs/UPDATEs in einen einzigen Netzwerk-Roundtrip zur Datenbank.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Flush &amp; Clear Loop: Verhindert Speicherüberlauf (OutOfMemoryError) bei Massendatenverarbeitung.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Second-Level-Cache (2LC): Cacht Lese-Entities über Transaktionsgrenzen hinweg (z.B. mit Caffeine oder Ehcache).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Query-Statistiken: hibernate.generate_statistics=true liefert Metriken über Statement-Zahlen und Cache-Hits.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Segoe UI"/>
              </a:defRPr>
            </a:pPr>
            <a:r>
              <a:t>09. IDENTITY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9.2 Entity Identity: Equals &amp; HashCode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8640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63040"/>
            <a:ext cx="5212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4F46E5"/>
                </a:solidFill>
                <a:latin typeface="Segoe UI"/>
              </a:defRPr>
            </a:pPr>
            <a:r>
              <a:t>BUSINESS KEY IMPLEMENTIERUNG</a:t>
            </a:r>
          </a:p>
          <a:p>
            <a:pPr>
              <a:defRPr sz="1050">
                <a:solidFill>
                  <a:srgbClr val="1E293B"/>
                </a:solidFill>
                <a:latin typeface="Consolas"/>
              </a:defRPr>
            </a:pPr>
            <a:r>
              <a:t>@Entity</a:t>
            </a:r>
            <a:br/>
            <a:r>
              <a:t>public class Vehicle {</a:t>
            </a:r>
            <a:br/>
            <a:r>
              <a:t>    @Id @GeneratedValue private Long id;</a:t>
            </a:r>
            <a:br/>
            <a:r>
              <a:t>    private String fin; // Eindeutige Fahrgestellnummer (Business Key)</a:t>
            </a:r>
            <a:br/>
            <a:br/>
            <a:r>
              <a:t>    @Override</a:t>
            </a:r>
            <a:br/>
            <a:r>
              <a:t>    public boolean equals(Object o) {</a:t>
            </a:r>
            <a:br/>
            <a:r>
              <a:t>        if (this == o) return true;</a:t>
            </a:r>
            <a:br/>
            <a:r>
              <a:t>        if (o == null || getClass() != o.getClass()) return false;</a:t>
            </a:r>
            <a:br/>
            <a:r>
              <a:t>        Vehicle that = (Vehicle) o;</a:t>
            </a:r>
            <a:br/>
            <a:r>
              <a:t>        return Objects.equals(fin, that.fin); // Business Key</a:t>
            </a:r>
            <a:br/>
            <a:r>
              <a:t>    }</a:t>
            </a:r>
            <a:br/>
            <a:br/>
            <a:r>
              <a:t>    @Override</a:t>
            </a:r>
            <a:br/>
            <a:r>
              <a:t>    public int hashCode() {</a:t>
            </a:r>
            <a:br/>
            <a:r>
              <a:t>        return Objects.hash(fin);</a:t>
            </a:r>
            <a:br/>
            <a:r>
              <a:t>    }</a:t>
            </a:r>
            <a:br/>
            <a: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5937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54480"/>
            <a:ext cx="46936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4F46E5"/>
                </a:solidFill>
              </a:defRPr>
            </a:pPr>
            <a:r>
              <a:t>Regeln für equals() und hashCode()</a:t>
            </a:r>
          </a:p>
          <a:p>
            <a:pPr>
              <a:spcAft>
                <a:spcPts val="800"/>
              </a:spcAft>
              <a:defRPr sz="1150">
                <a:solidFill>
                  <a:srgbClr val="0F172A"/>
                </a:solidFill>
                <a:latin typeface="Segoe UI"/>
              </a:defRPr>
            </a:pPr>
            <a:r>
              <a:t>• 1. Niemals nur @Id nutzen: Vor dem Persistieren ist id == null. Ändert sich der Hashcode nach dem INSERT, geht die Entity im HashSet verloren!</a:t>
            </a:r>
          </a:p>
          <a:p>
            <a:pPr>
              <a:spcAft>
                <a:spcPts val="800"/>
              </a:spcAft>
              <a:defRPr sz="1150">
                <a:solidFill>
                  <a:srgbClr val="0F172A"/>
                </a:solidFill>
                <a:latin typeface="Segoe UI"/>
              </a:defRPr>
            </a:pPr>
            <a:r>
              <a:t>• 2. Bevorzuge natürliche Business Keys: Fachlich eindeutige und unveränderliche Attribute (z.B. FIN, IBAN, UUID).</a:t>
            </a:r>
          </a:p>
          <a:p>
            <a:pPr>
              <a:spcAft>
                <a:spcPts val="800"/>
              </a:spcAft>
              <a:defRPr sz="1150">
                <a:solidFill>
                  <a:srgbClr val="0F172A"/>
                </a:solidFill>
                <a:latin typeface="Segoe UI"/>
              </a:defRPr>
            </a:pPr>
            <a:r>
              <a:t>• 3. Konstanter Hashcode als Fallback: Falls kein natürlicher Schlüssel existiert, getClass().hashCode() als fixer Hashcode und ID-Vergleich nur in equals().</a:t>
            </a:r>
          </a:p>
          <a:p>
            <a:pPr>
              <a:spcAft>
                <a:spcPts val="800"/>
              </a:spcAft>
              <a:defRPr sz="1150">
                <a:solidFill>
                  <a:srgbClr val="0F172A"/>
                </a:solidFill>
                <a:latin typeface="Segoe UI"/>
              </a:defRPr>
            </a:pPr>
            <a:r>
              <a:t>• 4. Getter verwenden: In equals() immer getId() statt Direktzugriff nutzen, um Proxies korrekt zu unterstützen.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Segoe UI"/>
              </a:defRPr>
            </a:pPr>
            <a:r>
              <a:t>10. KONFIGURATION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10. persistence.xml Konfigurationsvorlage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621792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63040"/>
            <a:ext cx="594360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4F46E5"/>
                </a:solidFill>
                <a:latin typeface="Segoe UI"/>
              </a:defRPr>
            </a:pPr>
            <a:r>
              <a:t>PERSISTENCE.XML TEMPLATE</a:t>
            </a:r>
          </a:p>
          <a:p>
            <a:pPr>
              <a:defRPr sz="1050">
                <a:solidFill>
                  <a:srgbClr val="1E293B"/>
                </a:solidFill>
                <a:latin typeface="Consolas"/>
              </a:defRPr>
            </a:pPr>
            <a:r>
              <a:t>&lt;?xml version="1.0" encoding="UTF-8"?&gt;</a:t>
            </a:r>
            <a:br/>
            <a:r>
              <a:t>&lt;persistence xmlns="https://jakarta.ee/xml/ns/persistence" version="3.0"&gt;</a:t>
            </a:r>
            <a:br/>
            <a:r>
              <a:t>    &lt;persistence-unit name="rentacarPU" transaction-type="RESOURCE_LOCAL"&gt;</a:t>
            </a:r>
            <a:br/>
            <a:r>
              <a:t>        &lt;provider&gt;org.hibernate.jpa.HibernatePersistenceProvider&lt;/provider&gt;</a:t>
            </a:r>
            <a:br/>
            <a:r>
              <a:t>        </a:t>
            </a:r>
            <a:br/>
            <a:r>
              <a:t>        &lt;class&gt;net.rentacar.model.Vehicle&lt;/class&gt;</a:t>
            </a:r>
            <a:br/>
            <a:r>
              <a:t>        &lt;class&gt;net.rentacar.model.Shop&lt;/class&gt;</a:t>
            </a:r>
            <a:br/>
            <a:br/>
            <a:r>
              <a:t>        &lt;properties&gt;</a:t>
            </a:r>
            <a:br/>
            <a:r>
              <a:t>            &lt;!-- JDBC Verbindungseinstellungen --&gt;</a:t>
            </a:r>
            <a:br/>
            <a:r>
              <a:t>            &lt;property name="jakarta.persistence.jdbc.driver" value="org.apache.derby.jdbc.ClientDriver"/&gt;</a:t>
            </a:r>
            <a:br/>
            <a:r>
              <a:t>            &lt;property name="jakarta.persistence.jdbc.url" value="jdbc:derby://localhost:1527/rentacar;create=true"/&gt;</a:t>
            </a:r>
            <a:br/>
            <a:r>
              <a:t>            &lt;property name="jakarta.persistence.jdbc.user" value="APP"/&gt;</a:t>
            </a:r>
            <a:br/>
            <a:r>
              <a:t>            &lt;property name="jakarta.persistence.jdbc.password" value="APP"/&gt;</a:t>
            </a:r>
            <a:br/>
            <a:br/>
            <a:r>
              <a:t>            &lt;!-- Schema-Generierung: none | create | drop-and-create | drop --&gt;</a:t>
            </a:r>
            <a:br/>
            <a:r>
              <a:t>            &lt;property name="jakarta.persistence.schema-generation.database.action" value="drop-and-create"/&gt;</a:t>
            </a:r>
            <a:br/>
            <a:br/>
            <a:r>
              <a:t>            &lt;!-- SQL-Diagnose &amp; Formatierung --&gt;</a:t>
            </a:r>
            <a:br/>
            <a:r>
              <a:t>            &lt;property name="hibernate.show_sql" value="true"/&gt;</a:t>
            </a:r>
            <a:br/>
            <a:r>
              <a:t>            &lt;property name="hibernate.format_sql" value="true"/&gt;</a:t>
            </a:r>
            <a:br/>
            <a:r>
              <a:t>        &lt;/properties&gt;</a:t>
            </a:r>
            <a:br/>
            <a:r>
              <a:t>    &lt;/persistence-unit&gt;</a:t>
            </a:r>
            <a:br/>
            <a:r>
              <a:t>&lt;/persistence&gt;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371600"/>
            <a:ext cx="432785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554480"/>
            <a:ext cx="396209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4F46E5"/>
                </a:solidFill>
              </a:defRPr>
            </a:pPr>
            <a:r>
              <a:t>Wichtige Konfigurationsschlüssel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Standard-Properties: Verwende moderne jakarta.persistence.* Properties anstelle alter javax.persistence.* Keys.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Schema-Action: In Produktion immer auf none setzen; in Integrationstests drop-and-create oder create.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hibernate.show_sql &amp; format_sql: Unverzichtbar zur Analyse von N+1 Problemen und generierten Joins.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Entity-Listing: Explizites Listen aller &lt;class&gt; Einträge verhindert Classpath-Scanning-Verzögerungen.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  <a:latin typeface="Segoe UI"/>
              </a:defRPr>
            </a:pPr>
            <a:r>
              <a:t>FAZIT &amp; CHECKLISTE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JPA Entwickler-Checkliste &amp; Best Practices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85232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5285232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4919472" cy="4709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4F46E5"/>
                </a:solidFill>
                <a:latin typeface="Segoe UI"/>
              </a:defRPr>
            </a:pPr>
            <a:r>
              <a:t>Modellierung &amp; Mappings</a:t>
            </a:r>
          </a:p>
          <a:p>
            <a:pPr>
              <a:spcAft>
                <a:spcPts val="1000"/>
              </a:spcAft>
              <a:defRPr sz="1150">
                <a:solidFill>
                  <a:srgbClr val="0F172A"/>
                </a:solidFill>
                <a:latin typeface="Segoe UI"/>
              </a:defRPr>
            </a:pPr>
            <a:r>
              <a:t>✔  Alle To-One (@ManyToOne, @OneToOne) explizit auf LAZY umgestellt?</a:t>
            </a:r>
          </a:p>
          <a:p>
            <a:pPr>
              <a:spcAft>
                <a:spcPts val="1000"/>
              </a:spcAft>
              <a:defRPr sz="1150">
                <a:solidFill>
                  <a:srgbClr val="0F172A"/>
                </a:solidFill>
                <a:latin typeface="Segoe UI"/>
              </a:defRPr>
            </a:pPr>
            <a:r>
              <a:t>✔  Defensive Helper-Methoden (add/remove) in Parent-Entities implementiert?</a:t>
            </a:r>
          </a:p>
          <a:p>
            <a:pPr>
              <a:spcAft>
                <a:spcPts val="1000"/>
              </a:spcAft>
              <a:defRPr sz="1150">
                <a:solidFill>
                  <a:srgbClr val="0F172A"/>
                </a:solidFill>
                <a:latin typeface="Segoe UI"/>
              </a:defRPr>
            </a:pPr>
            <a:r>
              <a:t>✔  orphanRemoval=true für echte Eltern-Kind-Aggregate eingerichtet?</a:t>
            </a:r>
          </a:p>
          <a:p>
            <a:pPr>
              <a:spcAft>
                <a:spcPts val="1000"/>
              </a:spcAft>
              <a:defRPr sz="1150">
                <a:solidFill>
                  <a:srgbClr val="0F172A"/>
                </a:solidFill>
                <a:latin typeface="Segoe UI"/>
              </a:defRPr>
            </a:pPr>
            <a:r>
              <a:t>✔  AttributeConverter (@Converter) für saubere Enums &amp; Custom Types genutzt?</a:t>
            </a:r>
          </a:p>
          <a:p>
            <a:pPr>
              <a:spcAft>
                <a:spcPts val="1000"/>
              </a:spcAft>
              <a:defRPr sz="1150">
                <a:solidFill>
                  <a:srgbClr val="0F172A"/>
                </a:solidFill>
                <a:latin typeface="Segoe UI"/>
              </a:defRPr>
            </a:pPr>
            <a:r>
              <a:t>✔  @EmbeddedId als Standard für zusammengesetzte Primärschlüssel verwendet?</a:t>
            </a:r>
          </a:p>
          <a:p>
            <a:pPr>
              <a:spcAft>
                <a:spcPts val="1000"/>
              </a:spcAft>
              <a:defRPr sz="1150">
                <a:solidFill>
                  <a:srgbClr val="0F172A"/>
                </a:solidFill>
                <a:latin typeface="Segoe UI"/>
              </a:defRPr>
            </a:pPr>
            <a:r>
              <a:t>✔  equals() und hashCode() basieren auf Business Keys (nicht allein auf @Id)?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285232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371600"/>
            <a:ext cx="5285232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54480"/>
            <a:ext cx="4919472" cy="4709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0D9488"/>
                </a:solidFill>
                <a:latin typeface="Segoe UI"/>
              </a:defRPr>
            </a:pPr>
            <a:r>
              <a:t>Abfragen &amp; Concurrency</a:t>
            </a:r>
          </a:p>
          <a:p>
            <a:pPr>
              <a:spcAft>
                <a:spcPts val="1000"/>
              </a:spcAft>
              <a:defRPr sz="1150">
                <a:solidFill>
                  <a:srgbClr val="0F172A"/>
                </a:solidFill>
                <a:latin typeface="Segoe UI"/>
              </a:defRPr>
            </a:pPr>
            <a:r>
              <a:t>✔  JOIN FETCH oder Entity Graphs genutzt, um N+1 Probleme zu verhindern?</a:t>
            </a:r>
          </a:p>
          <a:p>
            <a:pPr>
              <a:spcAft>
                <a:spcPts val="1000"/>
              </a:spcAft>
              <a:defRPr sz="1150">
                <a:solidFill>
                  <a:srgbClr val="0F172A"/>
                </a:solidFill>
                <a:latin typeface="Segoe UI"/>
              </a:defRPr>
            </a:pPr>
            <a:r>
              <a:t>✔  DTO Constructor Expressions (SELECT new ...) für reine Lese-Views verwendet?</a:t>
            </a:r>
          </a:p>
          <a:p>
            <a:pPr>
              <a:spcAft>
                <a:spcPts val="1000"/>
              </a:spcAft>
              <a:defRPr sz="1150">
                <a:solidFill>
                  <a:srgbClr val="0F172A"/>
                </a:solidFill>
                <a:latin typeface="Segoe UI"/>
              </a:defRPr>
            </a:pPr>
            <a:r>
              <a:t>✔  Nach Massenoperationen (executeUpdate) immer em.clear() aufgerufen?</a:t>
            </a:r>
          </a:p>
          <a:p>
            <a:pPr>
              <a:spcAft>
                <a:spcPts val="1000"/>
              </a:spcAft>
              <a:defRPr sz="1150">
                <a:solidFill>
                  <a:srgbClr val="0F172A"/>
                </a:solidFill>
                <a:latin typeface="Segoe UI"/>
              </a:defRPr>
            </a:pPr>
            <a:r>
              <a:t>✔  Optimistic Locking (@Version) bei parallelen Schreibzugriffen aktiv?</a:t>
            </a:r>
          </a:p>
          <a:p>
            <a:pPr>
              <a:spcAft>
                <a:spcPts val="1000"/>
              </a:spcAft>
              <a:defRPr sz="1150">
                <a:solidFill>
                  <a:srgbClr val="0F172A"/>
                </a:solidFill>
                <a:latin typeface="Segoe UI"/>
              </a:defRPr>
            </a:pPr>
            <a:r>
              <a:t>✔  Pessimistic Locking (SELECT FOR UPDATE) für Hotspot-Ressourcen konfiguriert?</a:t>
            </a:r>
          </a:p>
          <a:p>
            <a:pPr>
              <a:spcAft>
                <a:spcPts val="1000"/>
              </a:spcAft>
              <a:defRPr sz="1150">
                <a:solidFill>
                  <a:srgbClr val="0F172A"/>
                </a:solidFill>
                <a:latin typeface="Segoe UI"/>
              </a:defRPr>
            </a:pPr>
            <a:r>
              <a:t>✔  Batching (flush/clear) bei großen Datenmengen implementiert?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