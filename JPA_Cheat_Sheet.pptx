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A5B4FC"/>
                </a:solidFill>
                <a:latin typeface="Segoe UI"/>
              </a:defRPr>
            </a:pPr>
            <a:r>
              <a:t>JPA 3.X &amp; HIBERNATE 6.X SCHNELLREFERENZ</a:t>
            </a:r>
          </a:p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  <a:latin typeface="Segoe UI"/>
              </a:defRPr>
            </a:pPr>
            <a:r>
              <a:t>JPA &amp; Hibernate: Cheat Sheet</a:t>
            </a:r>
          </a:p>
          <a:p>
            <a:pPr>
              <a:spcAft>
                <a:spcPts val="28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Kompaktes Nachschlagewerk für Annotationen, Assoziationen, Lifecycle, JPQL, Criteria API &amp; Best Practices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Begleitendes Seminar-Material • Rent-a-Car Domänenmodell • Enterprise Java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KURSÜBERBLICK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Themenübersicht &amp; Modulmatrix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29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  <a:latin typeface="Segoe UI"/>
              </a:defRPr>
            </a:pPr>
            <a:r>
              <a:t>01. Entity-Grundlagen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@Entity, @Table, @Column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@Id &amp; @GeneratedValue (4 Strategien)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@Enumerated(STRING), @Transient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Zusammengesetzte PKs (@IdClass / @EmbeddedId)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429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02. Value Objects &amp; Mappings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@Embeddable &amp; @Embedded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@AttributeOverrides für Mehrfachnutzung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Null-Handling bei Embeddables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Saubere Domänen-Kapselung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429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36192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03. Assoziationen (1:1, 1:N, N:M)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Standard Fetch-Typen &amp; Korrekturen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Owning Side vs. mappedBy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Defensive Synchronisations-Methoden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@JoinColumn &amp; @JoinTable Konfiguration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342900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2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9333EA"/>
                </a:solidFill>
                <a:latin typeface="Segoe UI"/>
              </a:defRPr>
            </a:pPr>
            <a:r>
              <a:t>04. Vererbungsstrategien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SINGLE_TABLE (Default &amp; Performance)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JOINED (Relationale Normalisierung)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TABLE_PER_CLASS (Polymorphie)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@MappedSuperclass für technische Basisklassen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931920"/>
            <a:ext cx="3429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096512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05. Lifecycle &amp; EntityManager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Entity-Zustände (New, Managed, Detached...)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Kernoperationen: persist, merge, remove...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Persistence Context &amp; Transaktionsgrenzen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Batch Processing mit flush() &amp; clear()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931920"/>
            <a:ext cx="3429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096512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  <a:latin typeface="Segoe UI"/>
              </a:defRPr>
            </a:pPr>
            <a:r>
              <a:t>06. JPQL, Criteria &amp; Locking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JPQL Syntax, Parameter &amp; Pagination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DTO-Constructor Expressions (SELECT new)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Typsichere Criteria API Abfragen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Optimistic (@Version) &amp; Pessimistic Locking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01. ENTITY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Entity-Grundlagen &amp; Feld-Mappings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5212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JAVA ENTITY STRUKTUR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@Entity</a:t>
            </a:r>
            <a:br/>
            <a:r>
              <a:t>@Table(name = "T_VEHICLE", uniqueConstraints = {</a:t>
            </a:r>
            <a:br/>
            <a:r>
              <a:t>    @UniqueConstraint(columnNames = {"LICENSE_PLATE"})</a:t>
            </a:r>
            <a:br/>
            <a:r>
              <a:t>})</a:t>
            </a:r>
            <a:br/>
            <a:r>
              <a:t>public class Vehicle {</a:t>
            </a:r>
            <a:br/>
            <a:r>
              <a:t>    @Id</a:t>
            </a:r>
            <a:br/>
            <a:r>
              <a:t>    @GeneratedValue(strategy = GenerationType.IDENTITY)</a:t>
            </a:r>
            <a:br/>
            <a:r>
              <a:t>    private Long id;</a:t>
            </a:r>
            <a:br/>
            <a:br/>
            <a:r>
              <a:t>    @Column(name = "LICENSE_PLATE", nullable = false, length = 20)</a:t>
            </a:r>
            <a:br/>
            <a:r>
              <a:t>    private String licensePlate;</a:t>
            </a:r>
            <a:br/>
            <a:br/>
            <a:r>
              <a:t>    @Column(name = "PRICE_PER_DAY", precision = 10, scale = 2)</a:t>
            </a:r>
            <a:br/>
            <a:r>
              <a:t>    private BigDecimal pricePerDay;</a:t>
            </a:r>
            <a:br/>
            <a:br/>
            <a:r>
              <a:t>    @Enumerated(EnumType.STRING) // Immer STRING statt ORDINAL!</a:t>
            </a:r>
            <a:br/>
            <a:r>
              <a:t>    @Column(name = "FUEL_TYPE", length = 20)</a:t>
            </a:r>
            <a:br/>
            <a:r>
              <a:t>    private FuelType fuelType;</a:t>
            </a:r>
            <a:br/>
            <a:br/>
            <a:r>
              <a:t>    @Transient // Nicht in Datenbank persistieren</a:t>
            </a:r>
            <a:br/>
            <a:r>
              <a:t>    private boolean temporarySelected;</a:t>
            </a:r>
            <a:br/>
            <a:br/>
            <a:r>
              <a:t>    protected Vehicle() {} // Pflicht: No-Arg Konstruktor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5937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6936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Kernanforderungen an JPA Entities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@Entity deklariert die Klasse als JPA-Entity.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No-Arg Konstruktor ist zwingend erforderlich (mindestens protected/package-private für Proxy-Generierung).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@Table steuert Tabellenname, Schema und Unique Constraints.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@Column(nullable=false, length=...) steuert DDL und Spalteneigenschaften.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@Enumerated(EnumType.STRING): Verhindert Datenkorruption bei Enum-Erweiterungen (niemals ORDINAL nutzen!).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java.time (LocalDate, LocalDateTime, Instant) wird ab JPA 2.2+ nativ ohne @Temporal unterstützt.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@Transient markiert flüchtige Attribute, die vom O/R-Mapping ignoriert werden.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01. IDENTIFIKATION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Primärschlüssel-Strategien im Vergleich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3200400"/>
                <a:gridCol w="3322015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Strategie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Annotation / Syntax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Vorteile &amp; Eigenschaften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Einschränkungen / Nachteile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IDENTITY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strategy = GenerationType.IDENTITY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Auto-Increment Spalte der DB (MySQL, Derby, PG). Einfaches Setup.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Deaktiviert JDBC Batch-Inserts, da ID sofort beim persist() generiert werden muss.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@SequenceGenerator(...)</a:t>
                      </a:r>
                    </a:p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strategy = GenerationType.SEQUENCE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Batching-fähig! Extrem schnell durch Preallocation (allocationSize = 50).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Erfordert Sequence-Unterstützung der DB (Oracle, PostgreSQL).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@TableGenerator(...)</a:t>
                      </a:r>
                    </a:p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strategy = GenerationType.TABLE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Vollkommen datenbankunabhängig.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Performance-Nachteil durch separate Zähler-Tabelle und Lock-Transaktionen.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strategy = GenerationType.AUTO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JPA-Provider wählt automatisch die passendste Strategie.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Verhalten variiert je nach Provider und Datenbankdialekt.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Zusammengesetzter PK: @IdClass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Entity trägt mehrere @Id Attribute.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IdClass spiegelt die Primärschlüsselfelder 1:1 wider.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IdClass muss Serializable implementieren und equals()/hashCode() überschreiben.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480560"/>
            <a:ext cx="5242255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57200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563EB"/>
                </a:solidFill>
              </a:defRPr>
            </a:pPr>
            <a:r>
              <a:t>Zusammengesetzter PK: @EmbeddedId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Schlüssel wird als eigenständiges @Embeddable modelliert.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Entity referenziert den Schlüssel über ein einziges @EmbeddedId Feld.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Bessere Kapselung des Verbundschlüssels als Domänen-Objekt.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02. VALUE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Value Objects: @Embeddable &amp; @Embedded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66928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539496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EMBEDDABLE &amp; ATTRIBUTE OVERRIDES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@Embeddable</a:t>
            </a:r>
            <a:br/>
            <a:r>
              <a:t>public class Address {</a:t>
            </a:r>
            <a:br/>
            <a:r>
              <a:t>    @Column(nullable = false)</a:t>
            </a:r>
            <a:br/>
            <a:r>
              <a:t>    private String street;</a:t>
            </a:r>
            <a:br/>
            <a:r>
              <a:t>    private String zipCode;</a:t>
            </a:r>
            <a:br/>
            <a:r>
              <a:t>    private String city;</a:t>
            </a:r>
            <a:br/>
            <a:r>
              <a:t>    // Getter / Setter</a:t>
            </a:r>
            <a:br/>
            <a:r>
              <a:t>}</a:t>
            </a:r>
            <a:br/>
            <a:br/>
            <a:r>
              <a:t>@Entity</a:t>
            </a:r>
            <a:br/>
            <a:r>
              <a:t>public class Customer {</a:t>
            </a:r>
            <a:br/>
            <a:r>
              <a:t>    @Id @GeneratedValue private Long id;</a:t>
            </a:r>
            <a:br/>
            <a:br/>
            <a:r>
              <a:t>    @Embedded</a:t>
            </a:r>
            <a:br/>
            <a:r>
              <a:t>    private Address homeAddress;</a:t>
            </a:r>
            <a:br/>
            <a:br/>
            <a:r>
              <a:t>    // Mehrfachverwendung über Spalten-Overrides:</a:t>
            </a:r>
            <a:br/>
            <a:r>
              <a:t>    @Embedded</a:t>
            </a:r>
            <a:br/>
            <a:r>
              <a:t>    @AttributeOverrides({</a:t>
            </a:r>
            <a:br/>
            <a:r>
              <a:t>        @AttributeOverride(name = "street", column = @Column(name = "BILLING_STREET")),</a:t>
            </a:r>
            <a:br/>
            <a:r>
              <a:t>        @AttributeOverride(name = "zipCode", column = @Column(name = "BILLING_ZIP")),</a:t>
            </a:r>
            <a:br/>
            <a:r>
              <a:t>        @AttributeOverride(name = "city", column = @Column(name = "BILLING_CITY"))</a:t>
            </a:r>
            <a:br/>
            <a:r>
              <a:t>    })</a:t>
            </a:r>
            <a:br/>
            <a:r>
              <a:t>    private Address billingAddress;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76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54480"/>
            <a:ext cx="4510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Konzepte &amp; Praxisregeln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Keine eigene Identität: Value Objects besitzen keine @Id und keine eigene Datenbanktabelle.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Inlining im Schema: Die Felder des @Embeddables werden direkt in die Tabelle der besitzenden Entity eingebettet.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@AttributeOverrides: Ermöglicht die mehrfache Einbindung desselben Embeddables (z.B. Liefer- vs. Rechnungsadresse).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Lebenszyklus-Kopplung: Wird die Entity gespeichert/gelöscht, wird das Embeddable automatisch mitgespeichert/gelöscht.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Null-Handling: Sind alle Spalten des Embeddables in der Datenbank NULL, liefert JPA null für das gesamte Attribut zurück.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03. BEZIEHUNGEN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Assoziationen: Kardinalitäten &amp; FetchType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3017520"/>
                <a:gridCol w="3687775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Beziehung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JPA Default Fetch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Praxis-Empfehlung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Owning Side (Fremdschlüssel)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@ManyToOne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EAGER (!)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IMMER explizit auf LAZY umstellen!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Die Seite mit @JoinColumn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@OneToOne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EAGER (!)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Auf LAZY umstellen (optional=false nötig)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Die Seite mit @JoinColumn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@OneToMany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LAZY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LAZY belassen (Standard)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Die Gegenseite (@ManyToOne mit mappedBy)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@ManyToMany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LAZY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LAZY belassen (Standard)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Frei wählbar (die Seite mit @JoinTable)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3891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Die goldene Fetch-Regel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Alle To-One-Beziehungen (@ManyToOne, @OneToOne) müssen in Produktivcode explizit mit fetch = FetchType.LAZY versehen werden.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Verhindert unkontrollierte N+1 Queries und massive EAGER-Join-Kaskaden bei Listenabfragen.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524225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48056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Owning Side &amp; mappedBy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Nur Änderungen an der Owning Side werden per SQL in die Datenbank geschrieben.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Die Inverse Side definiert mappedBy = "..." und darf NIEMALS eine @JoinColumn tragen.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03. BEZIEHUNGEN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Bidirektionale 1:N Beziehungen &amp; Synchronisation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66928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539496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BIDIREKTIONALE SYNCHRONISATION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// Inverse Seite (Elternteil)</a:t>
            </a:r>
            <a:br/>
            <a:r>
              <a:t>@Entity</a:t>
            </a:r>
            <a:br/>
            <a:r>
              <a:t>public class Shop {</a:t>
            </a:r>
            <a:br/>
            <a:r>
              <a:t>    @Id @GeneratedValue private Long id;</a:t>
            </a:r>
            <a:br/>
            <a:br/>
            <a:r>
              <a:t>    @OneToMany(mappedBy = "shop", cascade = CascadeType.ALL, orphanRemoval = true)</a:t>
            </a:r>
            <a:br/>
            <a:r>
              <a:t>    private List&lt;Vehicle&gt; vehicles = new ArrayList&lt;&gt;();</a:t>
            </a:r>
            <a:br/>
            <a:br/>
            <a:r>
              <a:t>    // Defensive Synchronisations-Helfer</a:t>
            </a:r>
            <a:br/>
            <a:r>
              <a:t>    public void addVehicle(Vehicle vehicle) {</a:t>
            </a:r>
            <a:br/>
            <a:r>
              <a:t>        vehicles.add(vehicle);</a:t>
            </a:r>
            <a:br/>
            <a:r>
              <a:t>        vehicle.setShop(this); // Owning Side synchronisieren!</a:t>
            </a:r>
            <a:br/>
            <a:r>
              <a:t>    }</a:t>
            </a:r>
            <a:br/>
            <a:br/>
            <a:r>
              <a:t>    public void removeVehicle(Vehicle vehicle) {</a:t>
            </a:r>
            <a:br/>
            <a:r>
              <a:t>        vehicles.remove(vehicle);</a:t>
            </a:r>
            <a:br/>
            <a:r>
              <a:t>        vehicle.setShop(null);</a:t>
            </a:r>
            <a:br/>
            <a:r>
              <a:t>    }</a:t>
            </a:r>
            <a:br/>
            <a:r>
              <a:t>}</a:t>
            </a:r>
            <a:br/>
            <a:br/>
            <a:r>
              <a:t>// Owning Seite (Kindteil) - trägt den Fremdschlüssel</a:t>
            </a:r>
            <a:br/>
            <a:r>
              <a:t>@Entity</a:t>
            </a:r>
            <a:br/>
            <a:r>
              <a:t>public class Vehicle {</a:t>
            </a:r>
            <a:br/>
            <a:r>
              <a:t>    @Id @GeneratedValue private Long id;</a:t>
            </a:r>
            <a:br/>
            <a:br/>
            <a:r>
              <a:t>    @ManyToOne(fetch = FetchType.LAZY, optional = false)</a:t>
            </a:r>
            <a:br/>
            <a:r>
              <a:t>    @JoinColumn(name = "SHOP_ID", nullable = false)</a:t>
            </a:r>
            <a:br/>
            <a:r>
              <a:t>    private Shop shop;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76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54480"/>
            <a:ext cx="4510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Warum Helper-Methoden unverzichtbar sind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Inkonsistente Speicherzustände vermeiden: JPA synchronisiert Java-Objektgraphen im Speicher nicht automatisch.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Wird nur shop.getVehicles().add(v) aufgerufen, bleibt vehicle.getShop() null -&gt; Hibernate erzeugt KEIN SQL-Update für die Fremdschlüsselspalte!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orphanRemoval = true: Löscht Kinddatensätze automatisch aus der DB, sobald sie aus der Java-Collection entfernt werden.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CascadeType.ALL: Kaskadiert persist, merge und remove vom Parent auf alle Children (nur bei echter Komposition nutzen!).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04. VERERBUNG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Vererbungsstrategien im Vergleich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2103120"/>
                <a:gridCol w="2377440"/>
                <a:gridCol w="2773375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Strategie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Tabellenanzahl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Schemakonsistenz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Empfohlener Einsatz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  <a:latin typeface="Segoe UI"/>
                        </a:defRPr>
                      </a:pPr>
                      <a:r>
                        <a:t>SINGLE_TABLE</a:t>
                      </a:r>
                    </a:p>
                    <a:p>
                      <a:pPr>
                        <a:defRPr sz="1000" b="1">
                          <a:solidFill>
                            <a:srgbClr val="9333EA"/>
                          </a:solidFill>
                          <a:latin typeface="Segoe UI"/>
                        </a:defRPr>
                      </a:pPr>
                      <a:r>
                        <a:t>(Standard)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 gemeinsame Tabelle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Sehr schnell (keine Joins)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Schwach (Subklassen-Spalten müssen NULL erlauben)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Flache Hierarchien mit wenigen Subklassen-Feldern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  <a:latin typeface="Segoe UI"/>
                        </a:defRPr>
                      </a:pPr>
                      <a:r>
                        <a:t>JOINED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 Basis + 1 je Subklasse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Mittel (Joins über PK/FK nötig)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Exzellent (echte NOT NULL &amp; FK-Constraints)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Tiefe Hierarchien mit vielen spezifischen Attributen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  <a:latin typeface="Segoe UI"/>
                        </a:defRPr>
                      </a:pPr>
                      <a:r>
                        <a:t>TABLE_PER_CLASS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 je konkrete Klasse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Langsam bei Polymorphie (UNION nötig)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Gut je Einzeltabelle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Selten polymorphe Abfragen über Basisklasse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  <a:latin typeface="Segoe UI"/>
                        </a:defRPr>
                      </a:pPr>
                      <a:r>
                        <a:t>@MappedSuperclass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Keine Basistabelle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Sehr schnell (Attribute in Kindtabellen)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Gut je 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Gemeinsame technische Basisfelder (id, createdAt)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10728655" cy="1920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1045433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BEISPIEL: SINGLE_TABLE MIT DISKRIMINATOR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@Entity</a:t>
            </a:r>
            <a:br/>
            <a:r>
              <a:t>@Inheritance(strategy = InheritanceType.SINGLE_TABLE)</a:t>
            </a:r>
            <a:br/>
            <a:r>
              <a:t>@DiscriminatorColumn(name = "DISC_TYPE", discriminatorType = DiscriminatorType.STRING)</a:t>
            </a:r>
            <a:br/>
            <a:r>
              <a:t>@DiscriminatorValue("BASE")</a:t>
            </a:r>
            <a:br/>
            <a:r>
              <a:t>public abstract class VehicleType { ... }</a:t>
            </a:r>
            <a:br/>
            <a:br/>
            <a:r>
              <a:t>@Entity</a:t>
            </a:r>
            <a:br/>
            <a:r>
              <a:t>@DiscriminatorValue("TRUCK")</a:t>
            </a:r>
            <a:br/>
            <a:r>
              <a:t>public class Truck extends VehicleType { private Double maxPayload;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05.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EntityManager Lifecycle &amp; Zustandsmodell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6060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6060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3317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Segoe UI"/>
              </a:defRPr>
            </a:pPr>
            <a:r>
              <a:t>NEW / TRANSIENT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Objekt mit new erzeugt. Keine ID, der Datenbank und dem Persistence Context vollkommen unbekannt.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060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6060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08760"/>
            <a:ext cx="23317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  <a:latin typeface="Segoe UI"/>
              </a:defRPr>
            </a:pPr>
            <a:r>
              <a:t>MANAGED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Im Persistence Context registriert. Änderungen (Dirty Checking) werden bei flush()/commit() automatisch persistiert.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6060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6060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23317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DETACHED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Besitzt eine DB-ID, ist aber nicht mehr im Persistence Context (nach close(), clear(), detach() oder Tx-Ende).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371600"/>
            <a:ext cx="26060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371600"/>
            <a:ext cx="260604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508760"/>
            <a:ext cx="23317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9333EA"/>
                </a:solidFill>
                <a:latin typeface="Segoe UI"/>
              </a:defRPr>
            </a:pPr>
            <a:r>
              <a:t>REMOVED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Mit em.remove() zum Löschen vorgemerkt. Wird beim nächsten flush()/commit() per SQL DELETE gelöscht.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10728655" cy="29260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66160"/>
            <a:ext cx="1045433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KERNOPERATIONEN DES ENTITYMANAGERS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// Zustandsübergänge im Java-Code:</a:t>
            </a:r>
            <a:br/>
            <a:r>
              <a:t>em.persist(vehicle);         // Transient -&gt; Managed (Insert bei Commit/Flush)</a:t>
            </a:r>
            <a:br/>
            <a:r>
              <a:t>Vehicle v = em.find(Vehicle.class, 1L); // DB -&gt; Managed</a:t>
            </a:r>
            <a:br/>
            <a:r>
              <a:t>Vehicle managed = em.merge(detachedV);  // Detached -&gt; liefert NEUE gemanagte Instanz!</a:t>
            </a:r>
            <a:br/>
            <a:r>
              <a:t>em.remove(managed);          // Managed -&gt; Removed (Delete bei Commit/Flush)</a:t>
            </a:r>
            <a:br/>
            <a:r>
              <a:t>em.detach(managed);          // Managed -&gt; Detached (aus Cache entfernen)</a:t>
            </a:r>
            <a:br/>
            <a:r>
              <a:t>em.flush();                  // Schreibt anstehende SQL-Änderungen in die DB</a:t>
            </a:r>
            <a:br/>
            <a:r>
              <a:t>em.clear();                  // Leert gesamten Cache (alle Entities werden Detached)</a:t>
            </a:r>
            <a:br/>
            <a:r>
              <a:t>em.refresh(managed);         // Überschreibt Entity mit aktuellem DB-Stand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05. PERSISTENCE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Transaktionssteuerung &amp; Batch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66928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539496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TRANSAKTIONS- &amp; BATCH-MUSTER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EntityManager em = emf.createEntityManager();</a:t>
            </a:r>
            <a:br/>
            <a:r>
              <a:t>EntityTransaction tx = em.getTransaction();</a:t>
            </a:r>
            <a:br/>
            <a:r>
              <a:t>try {</a:t>
            </a:r>
            <a:br/>
            <a:r>
              <a:t>    tx.begin();</a:t>
            </a:r>
            <a:br/>
            <a:r>
              <a:t>    </a:t>
            </a:r>
            <a:br/>
            <a:r>
              <a:t>    // Batch Processing großer Datenmengen:</a:t>
            </a:r>
            <a:br/>
            <a:r>
              <a:t>    for (int i = 0; i &lt; items.size(); i++) {</a:t>
            </a:r>
            <a:br/>
            <a:r>
              <a:t>        em.persist(items.get(i));</a:t>
            </a:r>
            <a:br/>
            <a:r>
              <a:t>        </a:t>
            </a:r>
            <a:br/>
            <a:r>
              <a:t>        // Regelmäßiges Spülen und Cache-Leeren:</a:t>
            </a:r>
            <a:br/>
            <a:r>
              <a:t>        if (i &gt; 0 &amp;&amp; i % 50 == 0) {</a:t>
            </a:r>
            <a:br/>
            <a:r>
              <a:t>            em.flush(); // Sendet SQL-Inserts an DB</a:t>
            </a:r>
            <a:br/>
            <a:r>
              <a:t>            em.clear(); // Verhindert OutOfMemoryError!</a:t>
            </a:r>
            <a:br/>
            <a:r>
              <a:t>        }</a:t>
            </a:r>
            <a:br/>
            <a:r>
              <a:t>    }</a:t>
            </a:r>
            <a:br/>
            <a:r>
              <a:t>    </a:t>
            </a:r>
            <a:br/>
            <a:r>
              <a:t>    tx.commit();</a:t>
            </a:r>
            <a:br/>
            <a:r>
              <a:t>} catch (Exception e) {</a:t>
            </a:r>
            <a:br/>
            <a:r>
              <a:t>    if (tx.isActive()) tx.rollback();</a:t>
            </a:r>
            <a:br/>
            <a:r>
              <a:t>    throw e;</a:t>
            </a:r>
            <a:br/>
            <a:r>
              <a:t>} finally {</a:t>
            </a:r>
            <a:br/>
            <a:r>
              <a:t>    em.close();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76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54480"/>
            <a:ext cx="4510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Persistence Context Regeln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1st-Level Cache: Der Persistence Context puffert alle gemanagten Entities innerhalb einer Transaktion/Session.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Dirty Checking: Hibernate vergleicht beim Flush den Snapshot des Objekts und erzeugt gezielt minimale SQL-Updates.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OutOfMemory-Gefahr bei Massendaten: Ohne regelmäßiges em.clear() wächst der Cache unbegrenzt.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Flush != Commit: em.flush() sendet SQL an die Datenbank, die Transaktion bleibt jedoch offen und kann zurückgerollt werden.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Sauberes Exception-Handling: Transaktionen bei Fehlern immer mit tx.rollback() abbrechen, um unvollständige Locks aufzuheben.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06. JPQL 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JPQL Syntax: Abfragen, Filter &amp; Pagination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94360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56692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JPQL CODE-MUSTER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// 1. Parameter-Binding (Benannt vs. Indexiert)</a:t>
            </a:r>
            <a:br/>
            <a:r>
              <a:t>TypedQuery&lt;Vehicle&gt; q1 = em.createQuery(</a:t>
            </a:r>
            <a:br/>
            <a:r>
              <a:t>    "SELECT v FROM Vehicle v WHERE v.licensePlate = :plate AND v.pricePerDay &lt;= :maxPrice", </a:t>
            </a:r>
            <a:br/>
            <a:r>
              <a:t>    Vehicle.class);</a:t>
            </a:r>
            <a:br/>
            <a:r>
              <a:t>q1.setParameter("plate", "M-RC-101");</a:t>
            </a:r>
            <a:br/>
            <a:r>
              <a:t>q1.setParameter("maxPrice", new BigDecimal("80.00"));</a:t>
            </a:r>
            <a:br/>
            <a:br/>
            <a:r>
              <a:t>// 2. Pagination (Offset &amp; Limit)</a:t>
            </a:r>
            <a:br/>
            <a:r>
              <a:t>TypedQuery&lt;Vehicle&gt; q2 = em.createQuery(</a:t>
            </a:r>
            <a:br/>
            <a:r>
              <a:t>    "SELECT v FROM Vehicle v ORDER BY v.pricePerDay DESC", Vehicle.class);</a:t>
            </a:r>
            <a:br/>
            <a:r>
              <a:t>q2.setFirstResult(20); // Überspringe erste 20 (Offset)</a:t>
            </a:r>
            <a:br/>
            <a:r>
              <a:t>q2.setMaxResults(10);  // Lade maximal 10 Einträge (Limit)</a:t>
            </a:r>
            <a:br/>
            <a:r>
              <a:t>List&lt;Vehicle&gt; page2 = q2.getResultList();</a:t>
            </a:r>
            <a:br/>
            <a:br/>
            <a:r>
              <a:t>// 3. Aggregation &amp; Gruppierung</a:t>
            </a:r>
            <a:br/>
            <a:r>
              <a:t>Query q3 = em.createQuery(</a:t>
            </a:r>
            <a:br/>
            <a:r>
              <a:t>    "SELECT s.city, COUNT(v), AVG(v.pricePerDay) " +</a:t>
            </a:r>
            <a:br/>
            <a:r>
              <a:t>    "FROM Shop s JOIN s.vehicles v " +</a:t>
            </a:r>
            <a:br/>
            <a:r>
              <a:t>    "GROUP BY s.city HAVING COUNT(v) &gt;= 3");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371600"/>
            <a:ext cx="460217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4236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JPQL Syntax-Highlights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Objektorientiert: JPQL referenziert Entitätsnamen und Java-Property-Namen, KEINE Tabellen- oder Spaltennamen!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SQL-Injection Schutz: Immer benannte (:name) oder positionale (?1) Parameter nutzen, niemals Strings verketten.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TypedQuery&lt;T&gt;: Garantiert Typsicherheit beim Aufruf von getResultList() und getSingleResult().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getSingleResult(): Wirft NoResultException (wenn leer) oder NonUniqueResultException (wenn &gt;1 Treffer).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getResultList(): Liefert leere Liste (niemals null).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06. JPQL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JPQL Joins, JOIN FETCH &amp; DTO-Projektionen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94360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56692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JOINS &amp; DTO EXPRESSIONS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// 1. Inner &amp; Left Joins</a:t>
            </a:r>
            <a:br/>
            <a:r>
              <a:t>SELECT v FROM Vehicle v JOIN v.shop s WHERE s.city = 'München'</a:t>
            </a:r>
            <a:br/>
            <a:r>
              <a:t>SELECT s, v FROM Shop s LEFT JOIN s.vehicles v</a:t>
            </a:r>
            <a:br/>
            <a:br/>
            <a:r>
              <a:t>// 2. JOIN FETCH (Löst das N+1 Problem!)</a:t>
            </a:r>
            <a:br/>
            <a:r>
              <a:t>// Lädt Shop und alle zugehörigen Vehicles in EINEM einzigen SQL-Query:</a:t>
            </a:r>
            <a:br/>
            <a:r>
              <a:t>SELECT DISTINCT s FROM Shop s </a:t>
            </a:r>
            <a:br/>
            <a:r>
              <a:t>JOIN FETCH s.vehicles </a:t>
            </a:r>
            <a:br/>
            <a:r>
              <a:t>WHERE s.city = :city</a:t>
            </a:r>
            <a:br/>
            <a:br/>
            <a:r>
              <a:t>// 3. DTO Constructor Expression (SELECT new ...)</a:t>
            </a:r>
            <a:br/>
            <a:r>
              <a:t>// Schnell &amp; speicherschonend (kein Managed Entity Overhead!):</a:t>
            </a:r>
            <a:br/>
            <a:r>
              <a:t>SELECT new net.rentacar.dto.VehicleSummaryDto(</a:t>
            </a:r>
            <a:br/>
            <a:r>
              <a:t>    v.id, v.licensePlate, s.name, s.city</a:t>
            </a:r>
            <a:br/>
            <a:r>
              <a:t>) </a:t>
            </a:r>
            <a:br/>
            <a:r>
              <a:t>FROM Vehicle v JOIN v.shop s </a:t>
            </a:r>
            <a:br/>
            <a:r>
              <a:t>WHERE v.pricePerDay &lt; :maxPrice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371600"/>
            <a:ext cx="460217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4236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JOIN FETCH vs. DTO Projektion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JOIN FETCH initialisiert Lazy-Collections sofort im selben Datenbank-Query.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DISTINCT bei JOIN FETCH: Verhindert Duplikate des Root-Objekts im Java-Ergebnis.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DTO Constructor Expression: Instantiiert Java-Records oder POJOs direkt über den Konstruktor.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DTO Vorteile: Keine LazyInitializationException außerhalb von Transaktionen, maximale Performance durch Transfer nur benötigter Spalten.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Empfehlung: Entities für Schreiboperationen (Dirty Checking), DTOs für reine Leseabfragen / REST-APIs.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07. CRITERIA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Criteria API: Typsichere dynamische Abfragen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94360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56692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CRITERIA API CODESTRUKTUR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CriteriaBuilder cb = em.getCriteriaBuilder();</a:t>
            </a:r>
            <a:br/>
            <a:r>
              <a:t>CriteriaQuery&lt;Vehicle&gt; cq = cb.createQuery(Vehicle.class);</a:t>
            </a:r>
            <a:br/>
            <a:r>
              <a:t>Root&lt;Vehicle&gt; vehicle = cq.from(Vehicle.class);</a:t>
            </a:r>
            <a:br/>
            <a:br/>
            <a:r>
              <a:t>// Dynamische Filterbedingungen (Where-Klausel):</a:t>
            </a:r>
            <a:br/>
            <a:r>
              <a:t>List&lt;Predicate&gt; predicates = new ArrayList&lt;&gt;();</a:t>
            </a:r>
            <a:br/>
            <a:br/>
            <a:r>
              <a:t>if (searchPlate != null) {</a:t>
            </a:r>
            <a:br/>
            <a:r>
              <a:t>    predicates.add(cb.like(vehicle.get("licensePlate"), "%" + searchPlate + "%"));</a:t>
            </a:r>
            <a:br/>
            <a:r>
              <a:t>}</a:t>
            </a:r>
            <a:br/>
            <a:r>
              <a:t>if (maxPrice != null) {</a:t>
            </a:r>
            <a:br/>
            <a:r>
              <a:t>    predicates.add(cb.lessThanOrEqualTo(vehicle.get("pricePerDay"), maxPrice));</a:t>
            </a:r>
            <a:br/>
            <a:r>
              <a:t>}</a:t>
            </a:r>
            <a:br/>
            <a:br/>
            <a:r>
              <a:t>// Join Fetch in Criteria API</a:t>
            </a:r>
            <a:br/>
            <a:r>
              <a:t>vehicle.fetch("shop", JoinType.INNER);</a:t>
            </a:r>
            <a:br/>
            <a:br/>
            <a:r>
              <a:t>cq.select(vehicle)</a:t>
            </a:r>
            <a:br/>
            <a:r>
              <a:t>  .where(cb.and(predicates.toArray(new Predicate[0])))</a:t>
            </a:r>
            <a:br/>
            <a:r>
              <a:t>  .orderBy(cb.asc(vehicle.get("pricePerDay")));</a:t>
            </a:r>
            <a:br/>
            <a:br/>
            <a:r>
              <a:t>List&lt;Vehicle&gt; results = em.createQuery(cq).getResultList();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371600"/>
            <a:ext cx="460217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4236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Wann Criteria API einsetzen?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Dynamische Suchmasken: Perfekt geeignet, wenn Filterkriterien erst zur Laufzeit aus GUI-Feldern zusammengestellt werden.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Kompilierzeitsicherheit: Vermeidet Syntaxfehler in statischen JPQL-Strings.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Metamodel Generator: Mit JPA Annotation Processor können Attribute typsicher referenziert werden (Vehicle_.licensePlate).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Kombinierbarkeit: Prädikate können mit cb.and(...) und cb.or(...) beliebig verschachtelt werden.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08. CALLBACKS &amp;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Lifecycle Callbacks &amp; Entity Listeners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66928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539496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CALLBACK ANNOTATIONEN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@Entity</a:t>
            </a:r>
            <a:br/>
            <a:r>
              <a:t>@EntityListeners(AuditListener.class)</a:t>
            </a:r>
            <a:br/>
            <a:r>
              <a:t>public class Vehicle {</a:t>
            </a:r>
            <a:br/>
            <a:r>
              <a:t>    @Id @GeneratedValue private Long id;</a:t>
            </a:r>
            <a:br/>
            <a:br/>
            <a:r>
              <a:t>    private LocalDateTime createdAt;</a:t>
            </a:r>
            <a:br/>
            <a:r>
              <a:t>    private LocalDateTime updatedAt;</a:t>
            </a:r>
            <a:br/>
            <a:br/>
            <a:r>
              <a:t>    @PrePersist</a:t>
            </a:r>
            <a:br/>
            <a:r>
              <a:t>    protected void onPrePersist() {</a:t>
            </a:r>
            <a:br/>
            <a:r>
              <a:t>        this.createdAt = LocalDateTime.now();</a:t>
            </a:r>
            <a:br/>
            <a:r>
              <a:t>        this.updatedAt = this.createdAt;</a:t>
            </a:r>
            <a:br/>
            <a:r>
              <a:t>    }</a:t>
            </a:r>
            <a:br/>
            <a:br/>
            <a:r>
              <a:t>    @PreUpdate</a:t>
            </a:r>
            <a:br/>
            <a:r>
              <a:t>    protected void onPreUpdate() {</a:t>
            </a:r>
            <a:br/>
            <a:r>
              <a:t>        this.updatedAt = LocalDateTime.now();</a:t>
            </a:r>
            <a:br/>
            <a:r>
              <a:t>    }</a:t>
            </a:r>
            <a:br/>
            <a:r>
              <a:t>}</a:t>
            </a:r>
            <a:br/>
            <a:br/>
            <a:r>
              <a:t>// Separater Entitäts-Listener:</a:t>
            </a:r>
            <a:br/>
            <a:r>
              <a:t>public class AuditListener {</a:t>
            </a:r>
            <a:br/>
            <a:r>
              <a:t>    @PostPersist</a:t>
            </a:r>
            <a:br/>
            <a:r>
              <a:t>    public void onPostPersist(Object entity) {</a:t>
            </a:r>
            <a:br/>
            <a:r>
              <a:t>        AuditLogger.logInsert(entity);</a:t>
            </a:r>
            <a:br/>
            <a:r>
              <a:t>    }</a:t>
            </a:r>
            <a:br/>
            <a: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371600"/>
          <a:ext cx="48764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47695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Callback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Ausführungszeitpunkt &amp; Zweck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@PrePersist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Vor dem ersten INSERT (Erstelldatum, Defaults)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@PostPersist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Nach INSERT (Audit-Log mit generierter 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@PreUpdate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Vor UPDATE (Änderungsdatum aktualisieren)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@PostUpdate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Nach UPDATE (Event-Publishing, Caching)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@PreRemove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Vor DELETE (Abhängigkeits- &amp; Konsistenzchecks)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@PostRemove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Nach DELETE (Aufräumarbeiten, Lösch-Audit)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@PostLoad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Nach Laden aus DB (Flüchtige Felder berechnen)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09. KONSISTENZ &amp; LOCKING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Concurrency, Locking &amp; equals/hashCode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Optimistic vs. Pessimistic Locking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@Version für Optimistic Locking: Erkennt parallele Änderungen ohne DB-Locks (UPDATE ... WHERE version = ?).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OptimisticLockException bei Konflikten: Transaktion sauber mit rollback() abbrechen und retryen.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Unterstützte Versionstypen: int, Integer, short, Short, long, Long, Timestamp.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Pessimistic Locking (SELECT ... FOR UPDATE):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• LockModeType.PESSIMISTIC_WRITE (Exklusive Zeilensperre)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  • LockModeType.PESSIMISTIC_READ (Geteilte Lesesperre)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Einsatz Pessimistic: Nur bei extrem hoher Konkurrenz und kurzen Transaktionen (z.B. Kontostand-Buchungen).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764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Segoe UI"/>
              </a:defRPr>
            </a:pPr>
            <a:r>
              <a:t>Die 3 goldenen equals() &amp; hashCode() Regeln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1. Niemals nur die generierte @Id für hashCode() nutzen: Vor dem persist() ist id == null (Hash z.B. 0). Nach dem Speichern ändert sich der Hash -&gt; Entity geht in HashSets verloren!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 Bevorzuge natürliche Business Keys: Fachlich eindeutige und unveränderliche Attribute (z.B. Fahrgestellnummer FIN, IBAN, UUID).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3. Konstanter Hashcode als Fallback: Falls kein natürlicher Schlüssel existiert, getClass().hashCode() als fixer Hashcode und ID-Vergleich nur in equals().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4. Getter verwenden: In equals() immer getId() statt Direktzugriff auf id aufrufen, um Hibernate Proxies korrekt zu unterstützen.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10. KONFIGURATION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persistence.xml Konfigurationsvorlage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21792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59436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Segoe UI"/>
              </a:defRPr>
            </a:pPr>
            <a:r>
              <a:t>PERSISTENCE.XML TEMPLATE</a:t>
            </a:r>
          </a:p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&lt;?xml version="1.0" encoding="UTF-8"?&gt;</a:t>
            </a:r>
            <a:br/>
            <a:r>
              <a:t>&lt;persistence xmlns="https://jakarta.ee/xml/ns/persistence" version="3.0"&gt;</a:t>
            </a:r>
            <a:br/>
            <a:r>
              <a:t>    &lt;persistence-unit name="rentacarPU" transaction-type="RESOURCE_LOCAL"&gt;</a:t>
            </a:r>
            <a:br/>
            <a:r>
              <a:t>        &lt;provider&gt;org.hibernate.jpa.HibernatePersistenceProvider&lt;/provider&gt;</a:t>
            </a:r>
            <a:br/>
            <a:r>
              <a:t>        </a:t>
            </a:r>
            <a:br/>
            <a:r>
              <a:t>        &lt;class&gt;net.rentacar.model.Vehicle&lt;/class&gt;</a:t>
            </a:r>
            <a:br/>
            <a:r>
              <a:t>        &lt;class&gt;net.rentacar.model.Shop&lt;/class&gt;</a:t>
            </a:r>
            <a:br/>
            <a:br/>
            <a:r>
              <a:t>        &lt;properties&gt;</a:t>
            </a:r>
            <a:br/>
            <a:r>
              <a:t>            &lt;!-- JDBC Verbindungseinstellungen --&gt;</a:t>
            </a:r>
            <a:br/>
            <a:r>
              <a:t>            &lt;property name="jakarta.persistence.jdbc.driver" value="org.apache.derby.jdbc.ClientDriver"/&gt;</a:t>
            </a:r>
            <a:br/>
            <a:r>
              <a:t>            &lt;property name="jakarta.persistence.jdbc.url" value="jdbc:derby://localhost:1527/rentacar;create=true"/&gt;</a:t>
            </a:r>
            <a:br/>
            <a:r>
              <a:t>            &lt;property name="jakarta.persistence.jdbc.user" value="APP"/&gt;</a:t>
            </a:r>
            <a:br/>
            <a:r>
              <a:t>            &lt;property name="jakarta.persistence.jdbc.password" value="APP"/&gt;</a:t>
            </a:r>
            <a:br/>
            <a:br/>
            <a:r>
              <a:t>            &lt;!-- Schema-Generierung: none | create | drop-and-create | drop --&gt;</a:t>
            </a:r>
            <a:br/>
            <a:r>
              <a:t>            &lt;property name="jakarta.persistence.schema-generation.database.action" value="drop-and-create"/&gt;</a:t>
            </a:r>
            <a:br/>
            <a:br/>
            <a:r>
              <a:t>            &lt;!-- SQL-Diagnose &amp; Formatierung --&gt;</a:t>
            </a:r>
            <a:br/>
            <a:r>
              <a:t>            &lt;property name="hibernate.show_sql" value="true"/&gt;</a:t>
            </a:r>
            <a:br/>
            <a:r>
              <a:t>            &lt;property name="hibernate.format_sql" value="true"/&gt;</a:t>
            </a:r>
            <a:br/>
            <a:r>
              <a:t>            &lt;property name="hibernate.highlight_sql" value="true"/&gt;</a:t>
            </a:r>
            <a:br/>
            <a:r>
              <a:t>        &lt;/properties&gt;</a:t>
            </a:r>
            <a:br/>
            <a:r>
              <a:t>    &lt;/persistence-unit&gt;</a:t>
            </a:r>
            <a:br/>
            <a:r>
              <a:t>&lt;/persistence&gt;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371600"/>
            <a:ext cx="43278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Wichtige Konfigurationsschlüssel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Standard-Properties: Verwende moderne jakarta.persistence.* Properties anstelle alter javax.persistence.* oder herstellerspezifischer Keys.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Schema-Action: In Produktion immer auf none setzen; in Integrationstests drop-and-create oder create.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hibernate.show_sql &amp; format_sql: Unverzichtbar zur Analyse von N+1 Problemen und generierten Joins.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Entity-Listing: Explizites Listen aller &lt;class&gt; Einträge verhindert Classpath-Scanning-Verzögerungen.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FAZIT &amp; CHECKLISTE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JPA Entwickler-Checkliste &amp; Best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85232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8523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19472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Modellierung &amp; Mappings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✔  Alle To-One (@ManyToOne, @OneToOne) explizit auf LAZY umgestellt?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✔  Defensive Helper-Methoden (add/remove) in Parent-Entities implementiert?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✔  Enums immer mit @Enumerated(EnumType.STRING) annotiert?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✔  equals() und hashCode() basieren auf Business Keys (nicht allein auf @Id)?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✔  Embeddables (@Embeddable) für wiederkehrende Wertobjekte genutzt?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85232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528523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19472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Abfragen &amp; Performance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✔  JOIN FETCH in JPQL genutzt, um LazyInitializationException &amp; N+1 zu verhindern?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✔  DTO Constructor Expressions (SELECT new ...) für reine Lese-Views verwendet?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✔  SQL-Logging (show_sql) zur Abfragekontrolle in Tests aktiviert?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✔  Batching (flush/clear) bei großen Datenmengen implementiert?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✔  Optimistic Locking (@Version) bei parallelen Schreibzugriffen aktiv?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